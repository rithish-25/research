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71" r:id="rId5"/>
    <p:sldId id="274" r:id="rId6"/>
    <p:sldId id="275" r:id="rId7"/>
    <p:sldId id="276" r:id="rId8"/>
    <p:sldId id="277" r:id="rId9"/>
    <p:sldId id="262" r:id="rId10"/>
    <p:sldId id="263" r:id="rId11"/>
    <p:sldId id="264" r:id="rId12"/>
    <p:sldId id="259" r:id="rId13"/>
    <p:sldId id="260" r:id="rId14"/>
    <p:sldId id="269" r:id="rId15"/>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mihMLrrBZE8aYcezI03h6WiDJ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94660"/>
  </p:normalViewPr>
  <p:slideViewPr>
    <p:cSldViewPr snapToGrid="0">
      <p:cViewPr varScale="1">
        <p:scale>
          <a:sx n="78" d="100"/>
          <a:sy n="78" d="100"/>
        </p:scale>
        <p:origin x="1013"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dirty="0"/>
          </a:p>
        </p:txBody>
      </p:sp>
    </p:spTree>
    <p:extLst>
      <p:ext uri="{BB962C8B-B14F-4D97-AF65-F5344CB8AC3E}">
        <p14:creationId xmlns:p14="http://schemas.microsoft.com/office/powerpoint/2010/main" val="12088461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 name="Google Shape;46;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0933E87-5C11-3150-3F05-8896B89345B2}"/>
            </a:ext>
          </a:extLst>
        </p:cNvPr>
        <p:cNvGrpSpPr/>
        <p:nvPr/>
      </p:nvGrpSpPr>
      <p:grpSpPr>
        <a:xfrm>
          <a:off x="0" y="0"/>
          <a:ext cx="0" cy="0"/>
          <a:chOff x="0" y="0"/>
          <a:chExt cx="0" cy="0"/>
        </a:xfrm>
      </p:grpSpPr>
      <p:sp>
        <p:nvSpPr>
          <p:cNvPr id="59" name="Google Shape;59;p2:notes">
            <a:extLst>
              <a:ext uri="{FF2B5EF4-FFF2-40B4-BE49-F238E27FC236}">
                <a16:creationId xmlns:a16="http://schemas.microsoft.com/office/drawing/2014/main" id="{60E1B26B-17EA-AD8E-7121-C44CBAE90A12}"/>
              </a:ext>
            </a:extLst>
          </p:cNvPr>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a:extLst>
              <a:ext uri="{FF2B5EF4-FFF2-40B4-BE49-F238E27FC236}">
                <a16:creationId xmlns:a16="http://schemas.microsoft.com/office/drawing/2014/main" id="{9BA26095-9FCE-F6DB-A302-A38E89D9CA63}"/>
              </a:ext>
            </a:extLst>
          </p:cNvPr>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9126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0" name="Google Shape;60;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0"/>
          <p:cNvSpPr txBox="1">
            <a:spLocks noGrp="1"/>
          </p:cNvSpPr>
          <p:nvPr>
            <p:ph type="title"/>
          </p:nvPr>
        </p:nvSpPr>
        <p:spPr>
          <a:xfrm>
            <a:off x="2540635" y="403351"/>
            <a:ext cx="4675505" cy="7172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1"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0"/>
          <p:cNvSpPr txBox="1">
            <a:spLocks noGrp="1"/>
          </p:cNvSpPr>
          <p:nvPr>
            <p:ph type="body" idx="1"/>
          </p:nvPr>
        </p:nvSpPr>
        <p:spPr>
          <a:xfrm>
            <a:off x="4186809" y="3302679"/>
            <a:ext cx="3864609" cy="250697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000" b="1" i="0">
                <a:solidFill>
                  <a:schemeClr val="dk1"/>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1" name="Google Shape;21;p1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2540635" y="403351"/>
            <a:ext cx="4675505" cy="7172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1"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13"/>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13"/>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8" name="Google Shape;38;p13"/>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9" name="Google Shape;39;p13"/>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
        <p:cNvGrpSpPr/>
        <p:nvPr/>
      </p:nvGrpSpPr>
      <p:grpSpPr>
        <a:xfrm>
          <a:off x="0" y="0"/>
          <a:ext cx="0" cy="0"/>
          <a:chOff x="0" y="0"/>
          <a:chExt cx="0" cy="0"/>
        </a:xfrm>
      </p:grpSpPr>
      <p:sp>
        <p:nvSpPr>
          <p:cNvPr id="41" name="Google Shape;41;p14"/>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2" name="Google Shape;42;p1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3" name="Google Shape;43;p1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9"/>
          <p:cNvPicPr preferRelativeResize="0"/>
          <p:nvPr/>
        </p:nvPicPr>
        <p:blipFill rotWithShape="1">
          <a:blip r:embed="rId5">
            <a:alphaModFix/>
          </a:blip>
          <a:srcRect/>
          <a:stretch/>
        </p:blipFill>
        <p:spPr>
          <a:xfrm>
            <a:off x="0" y="0"/>
            <a:ext cx="9144000" cy="6857998"/>
          </a:xfrm>
          <a:prstGeom prst="rect">
            <a:avLst/>
          </a:prstGeom>
          <a:noFill/>
          <a:ln>
            <a:noFill/>
          </a:ln>
        </p:spPr>
      </p:pic>
      <p:sp>
        <p:nvSpPr>
          <p:cNvPr id="11" name="Google Shape;11;p9"/>
          <p:cNvSpPr txBox="1">
            <a:spLocks noGrp="1"/>
          </p:cNvSpPr>
          <p:nvPr>
            <p:ph type="title"/>
          </p:nvPr>
        </p:nvSpPr>
        <p:spPr>
          <a:xfrm>
            <a:off x="2540635" y="403351"/>
            <a:ext cx="4675505" cy="71729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1"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9"/>
          <p:cNvSpPr txBox="1">
            <a:spLocks noGrp="1"/>
          </p:cNvSpPr>
          <p:nvPr>
            <p:ph type="body" idx="1"/>
          </p:nvPr>
        </p:nvSpPr>
        <p:spPr>
          <a:xfrm>
            <a:off x="4186809" y="3302679"/>
            <a:ext cx="3864609" cy="2506979"/>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000" b="1"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4" name="Google Shape;14;p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5" name="Google Shape;15;p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grpSp>
        <p:nvGrpSpPr>
          <p:cNvPr id="48" name="Google Shape;48;p1"/>
          <p:cNvGrpSpPr/>
          <p:nvPr/>
        </p:nvGrpSpPr>
        <p:grpSpPr>
          <a:xfrm>
            <a:off x="0" y="0"/>
            <a:ext cx="3067050" cy="6857998"/>
            <a:chOff x="0" y="0"/>
            <a:chExt cx="3067050" cy="6857998"/>
          </a:xfrm>
        </p:grpSpPr>
        <p:pic>
          <p:nvPicPr>
            <p:cNvPr id="49" name="Google Shape;49;p1"/>
            <p:cNvPicPr preferRelativeResize="0"/>
            <p:nvPr/>
          </p:nvPicPr>
          <p:blipFill rotWithShape="1">
            <a:blip r:embed="rId3">
              <a:alphaModFix/>
            </a:blip>
            <a:srcRect/>
            <a:stretch/>
          </p:blipFill>
          <p:spPr>
            <a:xfrm>
              <a:off x="0" y="0"/>
              <a:ext cx="3067050" cy="6857998"/>
            </a:xfrm>
            <a:prstGeom prst="rect">
              <a:avLst/>
            </a:prstGeom>
            <a:noFill/>
            <a:ln>
              <a:noFill/>
            </a:ln>
          </p:spPr>
        </p:pic>
        <p:pic>
          <p:nvPicPr>
            <p:cNvPr id="50" name="Google Shape;50;p1"/>
            <p:cNvPicPr preferRelativeResize="0"/>
            <p:nvPr/>
          </p:nvPicPr>
          <p:blipFill rotWithShape="1">
            <a:blip r:embed="rId4">
              <a:alphaModFix/>
            </a:blip>
            <a:srcRect/>
            <a:stretch/>
          </p:blipFill>
          <p:spPr>
            <a:xfrm>
              <a:off x="1524000" y="1338452"/>
              <a:ext cx="1479041" cy="1389507"/>
            </a:xfrm>
            <a:prstGeom prst="rect">
              <a:avLst/>
            </a:prstGeom>
            <a:noFill/>
            <a:ln>
              <a:noFill/>
            </a:ln>
          </p:spPr>
        </p:pic>
        <p:pic>
          <p:nvPicPr>
            <p:cNvPr id="51" name="Google Shape;51;p1"/>
            <p:cNvPicPr preferRelativeResize="0"/>
            <p:nvPr/>
          </p:nvPicPr>
          <p:blipFill rotWithShape="1">
            <a:blip r:embed="rId5">
              <a:alphaModFix/>
            </a:blip>
            <a:srcRect/>
            <a:stretch/>
          </p:blipFill>
          <p:spPr>
            <a:xfrm>
              <a:off x="381000" y="4495812"/>
              <a:ext cx="1479041" cy="1841373"/>
            </a:xfrm>
            <a:prstGeom prst="rect">
              <a:avLst/>
            </a:prstGeom>
            <a:noFill/>
            <a:ln>
              <a:noFill/>
            </a:ln>
          </p:spPr>
        </p:pic>
      </p:grpSp>
      <p:sp>
        <p:nvSpPr>
          <p:cNvPr id="52" name="Google Shape;52;p1"/>
          <p:cNvSpPr txBox="1">
            <a:spLocks noGrp="1"/>
          </p:cNvSpPr>
          <p:nvPr>
            <p:ph type="title"/>
          </p:nvPr>
        </p:nvSpPr>
        <p:spPr>
          <a:xfrm>
            <a:off x="2811411" y="1249992"/>
            <a:ext cx="6312310" cy="1121451"/>
          </a:xfrm>
          <a:prstGeom prst="rect">
            <a:avLst/>
          </a:prstGeom>
          <a:noFill/>
          <a:ln>
            <a:noFill/>
          </a:ln>
        </p:spPr>
        <p:txBody>
          <a:bodyPr spcFirstLastPara="1" wrap="square" lIns="0" tIns="13325" rIns="0" bIns="0" anchor="t" anchorCtr="0">
            <a:spAutoFit/>
          </a:bodyPr>
          <a:lstStyle/>
          <a:p>
            <a:pPr algn="ctr"/>
            <a:r>
              <a:rPr lang="en-GB" sz="2400" dirty="0"/>
              <a:t>Machine Learning-Based Credit Risk Prediction with Safe Loan Amount and EMI Recommendation</a:t>
            </a:r>
          </a:p>
        </p:txBody>
      </p:sp>
      <p:sp>
        <p:nvSpPr>
          <p:cNvPr id="53" name="Google Shape;53;p1"/>
          <p:cNvSpPr txBox="1">
            <a:spLocks noGrp="1"/>
          </p:cNvSpPr>
          <p:nvPr>
            <p:ph type="body" idx="1"/>
          </p:nvPr>
        </p:nvSpPr>
        <p:spPr>
          <a:xfrm>
            <a:off x="4453466" y="4158624"/>
            <a:ext cx="5257801" cy="1594016"/>
          </a:xfrm>
          <a:prstGeom prst="rect">
            <a:avLst/>
          </a:prstGeom>
          <a:noFill/>
          <a:ln>
            <a:noFill/>
          </a:ln>
        </p:spPr>
        <p:txBody>
          <a:bodyPr spcFirstLastPara="1" wrap="square" lIns="0" tIns="54600" rIns="0" bIns="0" anchor="t" anchorCtr="0">
            <a:spAutoFit/>
          </a:bodyPr>
          <a:lstStyle/>
          <a:p>
            <a:pPr marL="688975" marR="618490" lvl="0" indent="-65405" algn="l" rtl="0">
              <a:lnSpc>
                <a:spcPct val="100000"/>
              </a:lnSpc>
              <a:spcBef>
                <a:spcPts val="0"/>
              </a:spcBef>
              <a:spcAft>
                <a:spcPts val="0"/>
              </a:spcAft>
              <a:buNone/>
            </a:pPr>
            <a:r>
              <a:rPr lang="en-US" dirty="0">
                <a:latin typeface="Times New Roman"/>
                <a:ea typeface="Times New Roman"/>
                <a:cs typeface="Times New Roman"/>
                <a:sym typeface="Times New Roman"/>
              </a:rPr>
              <a:t>Team Members:</a:t>
            </a:r>
          </a:p>
          <a:p>
            <a:pPr marL="688975" marR="618490" lvl="0" indent="-65405" algn="l" rtl="0">
              <a:lnSpc>
                <a:spcPct val="100000"/>
              </a:lnSpc>
              <a:spcBef>
                <a:spcPts val="0"/>
              </a:spcBef>
              <a:spcAft>
                <a:spcPts val="0"/>
              </a:spcAft>
              <a:buNone/>
            </a:pPr>
            <a:endParaRPr dirty="0"/>
          </a:p>
          <a:p>
            <a:pPr marL="688975" marR="618490" lvl="0" indent="-65405" algn="l" rtl="0">
              <a:lnSpc>
                <a:spcPct val="100000"/>
              </a:lnSpc>
              <a:spcBef>
                <a:spcPts val="0"/>
              </a:spcBef>
              <a:spcAft>
                <a:spcPts val="0"/>
              </a:spcAft>
              <a:buNone/>
            </a:pPr>
            <a:r>
              <a:rPr lang="en-US" b="0" dirty="0"/>
              <a:t>RITHISH R </a:t>
            </a:r>
            <a:r>
              <a:rPr lang="en-US" b="0" dirty="0">
                <a:latin typeface="Times New Roman"/>
                <a:ea typeface="Times New Roman"/>
                <a:cs typeface="Times New Roman"/>
                <a:sym typeface="Times New Roman"/>
              </a:rPr>
              <a:t>(23CSR178)</a:t>
            </a:r>
            <a:endParaRPr b="0" dirty="0">
              <a:latin typeface="Times New Roman"/>
              <a:ea typeface="Times New Roman"/>
              <a:cs typeface="Times New Roman"/>
              <a:sym typeface="Times New Roman"/>
            </a:endParaRPr>
          </a:p>
          <a:p>
            <a:pPr marL="688975" marR="618490" lvl="0" indent="-65405" algn="l" rtl="0">
              <a:lnSpc>
                <a:spcPct val="100000"/>
              </a:lnSpc>
              <a:spcBef>
                <a:spcPts val="0"/>
              </a:spcBef>
              <a:spcAft>
                <a:spcPts val="0"/>
              </a:spcAft>
              <a:buNone/>
            </a:pPr>
            <a:r>
              <a:rPr lang="en-US" b="0" dirty="0"/>
              <a:t>NAVEEN SRINIVAS </a:t>
            </a:r>
            <a:r>
              <a:rPr lang="en-US" b="0" dirty="0">
                <a:latin typeface="Times New Roman"/>
                <a:ea typeface="Times New Roman"/>
                <a:cs typeface="Times New Roman"/>
                <a:sym typeface="Times New Roman"/>
              </a:rPr>
              <a:t> V(23CSR145) </a:t>
            </a:r>
          </a:p>
          <a:p>
            <a:pPr marL="688975" marR="618490" lvl="0" indent="-65405" algn="l" rtl="0">
              <a:lnSpc>
                <a:spcPct val="100000"/>
              </a:lnSpc>
              <a:spcBef>
                <a:spcPts val="0"/>
              </a:spcBef>
              <a:spcAft>
                <a:spcPts val="0"/>
              </a:spcAft>
              <a:buNone/>
            </a:pPr>
            <a:r>
              <a:rPr lang="en-US" b="0" dirty="0"/>
              <a:t>MENAHA R(23CSR130)</a:t>
            </a:r>
            <a:endParaRPr b="0" dirty="0">
              <a:latin typeface="Times New Roman"/>
              <a:ea typeface="Times New Roman"/>
              <a:cs typeface="Times New Roman"/>
              <a:sym typeface="Times New Roman"/>
            </a:endParaRPr>
          </a:p>
        </p:txBody>
      </p:sp>
      <p:sp>
        <p:nvSpPr>
          <p:cNvPr id="56" name="Google Shape;56;p1"/>
          <p:cNvSpPr txBox="1"/>
          <p:nvPr/>
        </p:nvSpPr>
        <p:spPr>
          <a:xfrm>
            <a:off x="3109383" y="6092143"/>
            <a:ext cx="5236209" cy="629008"/>
          </a:xfrm>
          <a:prstGeom prst="rect">
            <a:avLst/>
          </a:prstGeom>
          <a:noFill/>
          <a:ln>
            <a:noFill/>
          </a:ln>
        </p:spPr>
        <p:txBody>
          <a:bodyPr spcFirstLastPara="1" wrap="square" lIns="0" tIns="13325" rIns="0" bIns="0" anchor="t" anchorCtr="0">
            <a:spAutoFit/>
          </a:bodyPr>
          <a:lstStyle/>
          <a:p>
            <a:pPr marL="12700" lvl="0"/>
            <a:br>
              <a:rPr lang="en-IN" sz="2000" b="1" spc="-10" dirty="0">
                <a:latin typeface="Times New Roman"/>
                <a:cs typeface="Times New Roman"/>
              </a:rPr>
            </a:br>
            <a:r>
              <a:rPr lang="en-US" sz="2000" b="1" i="0" dirty="0">
                <a:solidFill>
                  <a:schemeClr val="dk1"/>
                </a:solidFill>
                <a:latin typeface="Times New Roman"/>
                <a:ea typeface="Times New Roman"/>
                <a:cs typeface="Times New Roman"/>
                <a:sym typeface="Times New Roman"/>
              </a:rPr>
              <a:t>Date:</a:t>
            </a:r>
            <a:r>
              <a:rPr lang="en-US" sz="2000" b="1" dirty="0">
                <a:solidFill>
                  <a:schemeClr val="dk1"/>
                </a:solidFill>
                <a:latin typeface="Times New Roman"/>
                <a:ea typeface="Times New Roman"/>
                <a:cs typeface="Times New Roman"/>
                <a:sym typeface="Times New Roman"/>
              </a:rPr>
              <a:t>25</a:t>
            </a:r>
            <a:r>
              <a:rPr lang="en-US" sz="2000" b="1" i="0" dirty="0">
                <a:solidFill>
                  <a:schemeClr val="dk1"/>
                </a:solidFill>
                <a:latin typeface="Times New Roman"/>
                <a:ea typeface="Times New Roman"/>
                <a:cs typeface="Times New Roman"/>
                <a:sym typeface="Times New Roman"/>
              </a:rPr>
              <a:t>.06.2026</a:t>
            </a:r>
            <a:endParaRPr sz="2000" b="0" i="0" dirty="0">
              <a:solidFill>
                <a:schemeClr val="dk1"/>
              </a:solidFill>
              <a:latin typeface="Times New Roman"/>
              <a:ea typeface="Times New Roman"/>
              <a:cs typeface="Times New Roman"/>
              <a:sym typeface="Times New Roman"/>
            </a:endParaRPr>
          </a:p>
        </p:txBody>
      </p:sp>
      <p:sp>
        <p:nvSpPr>
          <p:cNvPr id="57" name="Google Shape;57;p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2962638" y="294175"/>
            <a:ext cx="4672602" cy="1265458"/>
          </a:xfrm>
          <a:prstGeom prst="rect">
            <a:avLst/>
          </a:prstGeom>
          <a:noFill/>
          <a:ln>
            <a:noFill/>
          </a:ln>
        </p:spPr>
        <p:txBody>
          <a:bodyPr spcFirstLastPara="1" wrap="square" lIns="0" tIns="216900" rIns="0" bIns="0" anchor="t" anchorCtr="0">
            <a:spAutoFit/>
          </a:bodyPr>
          <a:lstStyle/>
          <a:p>
            <a:pPr marL="12700" lvl="0" indent="0" algn="l" rtl="0">
              <a:lnSpc>
                <a:spcPct val="100000"/>
              </a:lnSpc>
              <a:spcBef>
                <a:spcPts val="0"/>
              </a:spcBef>
              <a:spcAft>
                <a:spcPts val="0"/>
              </a:spcAft>
              <a:buNone/>
            </a:pPr>
            <a:r>
              <a:rPr lang="en-US" dirty="0">
                <a:solidFill>
                  <a:srgbClr val="FF0000"/>
                </a:solidFill>
              </a:rPr>
              <a:t>Problem Statement</a:t>
            </a:r>
            <a:br>
              <a:rPr lang="en-US" sz="3600" dirty="0">
                <a:solidFill>
                  <a:srgbClr val="FF0000"/>
                </a:solidFill>
              </a:rPr>
            </a:br>
            <a:endParaRPr sz="3600"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2</a:t>
            </a:fld>
            <a:endParaRPr dirty="0"/>
          </a:p>
        </p:txBody>
      </p:sp>
      <p:sp>
        <p:nvSpPr>
          <p:cNvPr id="4" name="Google Shape;53;p1"/>
          <p:cNvSpPr txBox="1">
            <a:spLocks noGrp="1"/>
          </p:cNvSpPr>
          <p:nvPr>
            <p:ph type="body" idx="1"/>
          </p:nvPr>
        </p:nvSpPr>
        <p:spPr>
          <a:xfrm>
            <a:off x="970855" y="1559633"/>
            <a:ext cx="7715945" cy="3748452"/>
          </a:xfrm>
          <a:prstGeom prst="rect">
            <a:avLst/>
          </a:prstGeom>
          <a:noFill/>
          <a:ln>
            <a:noFill/>
          </a:ln>
        </p:spPr>
        <p:txBody>
          <a:bodyPr spcFirstLastPara="1" wrap="square" lIns="0" tIns="54600" rIns="0" bIns="0" anchor="t" anchorCtr="0">
            <a:spAutoFit/>
          </a:bodyPr>
          <a:lstStyle/>
          <a:p>
            <a:pPr>
              <a:lnSpc>
                <a:spcPct val="150000"/>
              </a:lnSpc>
            </a:pPr>
            <a:r>
              <a:rPr lang="en-GB" sz="1600" dirty="0"/>
              <a:t>Existing Problem</a:t>
            </a:r>
          </a:p>
          <a:p>
            <a:pPr marL="571500" indent="-342900">
              <a:lnSpc>
                <a:spcPct val="150000"/>
              </a:lnSpc>
              <a:buFont typeface="Arial" panose="020B0604020202020204" pitchFamily="34" charset="0"/>
              <a:buChar char="•"/>
            </a:pPr>
            <a:r>
              <a:rPr lang="en-IN" sz="1600" b="0" dirty="0"/>
              <a:t>Banks check loan eligibility manually or using simple rules.</a:t>
            </a:r>
            <a:br>
              <a:rPr lang="en-IN" sz="1600" b="0" dirty="0"/>
            </a:br>
            <a:r>
              <a:rPr lang="en-IN" sz="1600" b="0" dirty="0"/>
              <a:t>This process takes time and sometimes gives wrong decisions because it depends on human judgement.</a:t>
            </a:r>
            <a:br>
              <a:rPr lang="en-IN" sz="1600" b="0" dirty="0"/>
            </a:br>
            <a:r>
              <a:rPr lang="en-IN" sz="1600" b="0" dirty="0"/>
              <a:t>Because of this, risky loans may get approved or good customers may be rejected.</a:t>
            </a:r>
            <a:endParaRPr lang="en-IN" sz="1600" dirty="0"/>
          </a:p>
          <a:p>
            <a:pPr>
              <a:lnSpc>
                <a:spcPct val="150000"/>
              </a:lnSpc>
            </a:pPr>
            <a:r>
              <a:rPr lang="en-GB" sz="1600" dirty="0"/>
              <a:t>Proposed Solution:</a:t>
            </a:r>
          </a:p>
          <a:p>
            <a:pPr marL="571500" indent="-342900">
              <a:lnSpc>
                <a:spcPct val="150000"/>
              </a:lnSpc>
              <a:buFont typeface="Arial" panose="020B0604020202020204" pitchFamily="34" charset="0"/>
              <a:buChar char="•"/>
            </a:pPr>
            <a:r>
              <a:rPr lang="en-IN" sz="1600" b="0" dirty="0"/>
              <a:t>We will build a machine learning system that predicts whether a customer is risky or safe for a loan and assigns a risk score, instead of just giving approve and reject results. </a:t>
            </a:r>
          </a:p>
          <a:p>
            <a:pPr marL="571500" indent="-342900">
              <a:lnSpc>
                <a:spcPct val="150000"/>
              </a:lnSpc>
              <a:buFont typeface="Arial" panose="020B0604020202020204" pitchFamily="34" charset="0"/>
              <a:buChar char="•"/>
            </a:pPr>
            <a:r>
              <a:rPr lang="en-IN" sz="1600" b="0" dirty="0"/>
              <a:t>The system will also suggest a safe loan amount and EMI plan based on income, expenses, and credit behaviour with an explanation of why the decision was made</a:t>
            </a:r>
            <a:r>
              <a:rPr lang="en-GB" sz="1600" b="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075466" y="353517"/>
            <a:ext cx="4180797"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L</a:t>
            </a:r>
            <a:r>
              <a:rPr lang="en-IN" dirty="0">
                <a:solidFill>
                  <a:srgbClr val="FF0000"/>
                </a:solidFill>
              </a:rPr>
              <a:t>iterature Survey</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a:t>
            </a:fld>
            <a:endParaRPr dirty="0"/>
          </a:p>
        </p:txBody>
      </p:sp>
      <p:graphicFrame>
        <p:nvGraphicFramePr>
          <p:cNvPr id="2" name="Table 1">
            <a:extLst>
              <a:ext uri="{FF2B5EF4-FFF2-40B4-BE49-F238E27FC236}">
                <a16:creationId xmlns:a16="http://schemas.microsoft.com/office/drawing/2014/main" id="{5EEB99CE-EE9A-923E-F5AF-C7003C914612}"/>
              </a:ext>
            </a:extLst>
          </p:cNvPr>
          <p:cNvGraphicFramePr>
            <a:graphicFrameLocks noGrp="1"/>
          </p:cNvGraphicFramePr>
          <p:nvPr>
            <p:extLst>
              <p:ext uri="{D42A27DB-BD31-4B8C-83A1-F6EECF244321}">
                <p14:modId xmlns:p14="http://schemas.microsoft.com/office/powerpoint/2010/main" val="3525370949"/>
              </p:ext>
            </p:extLst>
          </p:nvPr>
        </p:nvGraphicFramePr>
        <p:xfrm>
          <a:off x="745434" y="1679712"/>
          <a:ext cx="8010940" cy="4581196"/>
        </p:xfrm>
        <a:graphic>
          <a:graphicData uri="http://schemas.openxmlformats.org/drawingml/2006/table">
            <a:tbl>
              <a:tblPr/>
              <a:tblGrid>
                <a:gridCol w="2002735">
                  <a:extLst>
                    <a:ext uri="{9D8B030D-6E8A-4147-A177-3AD203B41FA5}">
                      <a16:colId xmlns:a16="http://schemas.microsoft.com/office/drawing/2014/main" val="403370833"/>
                    </a:ext>
                  </a:extLst>
                </a:gridCol>
                <a:gridCol w="2002735">
                  <a:extLst>
                    <a:ext uri="{9D8B030D-6E8A-4147-A177-3AD203B41FA5}">
                      <a16:colId xmlns:a16="http://schemas.microsoft.com/office/drawing/2014/main" val="2857893920"/>
                    </a:ext>
                  </a:extLst>
                </a:gridCol>
                <a:gridCol w="2002735">
                  <a:extLst>
                    <a:ext uri="{9D8B030D-6E8A-4147-A177-3AD203B41FA5}">
                      <a16:colId xmlns:a16="http://schemas.microsoft.com/office/drawing/2014/main" val="4228705305"/>
                    </a:ext>
                  </a:extLst>
                </a:gridCol>
                <a:gridCol w="2002735">
                  <a:extLst>
                    <a:ext uri="{9D8B030D-6E8A-4147-A177-3AD203B41FA5}">
                      <a16:colId xmlns:a16="http://schemas.microsoft.com/office/drawing/2014/main" val="1109122155"/>
                    </a:ext>
                  </a:extLst>
                </a:gridCol>
              </a:tblGrid>
              <a:tr h="335691">
                <a:tc>
                  <a:txBody>
                    <a:bodyPr/>
                    <a:lstStyle/>
                    <a:p>
                      <a:pPr>
                        <a:buNone/>
                      </a:pPr>
                      <a:r>
                        <a:rPr lang="en-IN" b="1" dirty="0"/>
                        <a:t>Author &amp; Year</a:t>
                      </a:r>
                    </a:p>
                  </a:txBody>
                  <a:tcPr anchor="ctr">
                    <a:lnL>
                      <a:noFill/>
                    </a:lnL>
                    <a:lnR>
                      <a:noFill/>
                    </a:lnR>
                    <a:lnT>
                      <a:noFill/>
                    </a:lnT>
                    <a:lnB>
                      <a:noFill/>
                    </a:lnB>
                    <a:noFill/>
                  </a:tcPr>
                </a:tc>
                <a:tc>
                  <a:txBody>
                    <a:bodyPr/>
                    <a:lstStyle/>
                    <a:p>
                      <a:pPr>
                        <a:buNone/>
                      </a:pPr>
                      <a:r>
                        <a:rPr lang="en-IN" b="1" dirty="0"/>
                        <a:t>Methodology</a:t>
                      </a:r>
                    </a:p>
                  </a:txBody>
                  <a:tcPr anchor="ctr">
                    <a:lnL>
                      <a:noFill/>
                    </a:lnL>
                    <a:lnR>
                      <a:noFill/>
                    </a:lnR>
                    <a:lnT>
                      <a:noFill/>
                    </a:lnT>
                    <a:lnB>
                      <a:noFill/>
                    </a:lnB>
                    <a:noFill/>
                  </a:tcPr>
                </a:tc>
                <a:tc>
                  <a:txBody>
                    <a:bodyPr/>
                    <a:lstStyle/>
                    <a:p>
                      <a:pPr>
                        <a:buNone/>
                      </a:pPr>
                      <a:r>
                        <a:rPr lang="en-IN" b="1" dirty="0"/>
                        <a:t>Performance</a:t>
                      </a:r>
                    </a:p>
                  </a:txBody>
                  <a:tcPr anchor="ctr">
                    <a:lnL>
                      <a:noFill/>
                    </a:lnL>
                    <a:lnR>
                      <a:noFill/>
                    </a:lnR>
                    <a:lnT>
                      <a:noFill/>
                    </a:lnT>
                    <a:lnB>
                      <a:noFill/>
                    </a:lnB>
                    <a:noFill/>
                  </a:tcPr>
                </a:tc>
                <a:tc>
                  <a:txBody>
                    <a:bodyPr/>
                    <a:lstStyle/>
                    <a:p>
                      <a:pPr>
                        <a:buNone/>
                      </a:pPr>
                      <a:r>
                        <a:rPr lang="en-IN" b="1" dirty="0"/>
                        <a:t>Limitation</a:t>
                      </a:r>
                    </a:p>
                  </a:txBody>
                  <a:tcPr anchor="ctr">
                    <a:lnL>
                      <a:noFill/>
                    </a:lnL>
                    <a:lnR>
                      <a:noFill/>
                    </a:lnR>
                    <a:lnT>
                      <a:noFill/>
                    </a:lnT>
                    <a:lnB>
                      <a:noFill/>
                    </a:lnB>
                    <a:noFill/>
                  </a:tcPr>
                </a:tc>
                <a:extLst>
                  <a:ext uri="{0D108BD9-81ED-4DB2-BD59-A6C34878D82A}">
                    <a16:rowId xmlns:a16="http://schemas.microsoft.com/office/drawing/2014/main" val="78979279"/>
                  </a:ext>
                </a:extLst>
              </a:tr>
              <a:tr h="1165046">
                <a:tc>
                  <a:txBody>
                    <a:bodyPr/>
                    <a:lstStyle/>
                    <a:p>
                      <a:pPr>
                        <a:buNone/>
                      </a:pPr>
                      <a:r>
                        <a:rPr lang="en-IN" dirty="0"/>
                        <a:t>ML-Based Credit Scoring Models (2024)</a:t>
                      </a:r>
                    </a:p>
                  </a:txBody>
                  <a:tcPr anchor="ctr">
                    <a:lnL>
                      <a:noFill/>
                    </a:lnL>
                    <a:lnR>
                      <a:noFill/>
                    </a:lnR>
                    <a:lnT>
                      <a:noFill/>
                    </a:lnT>
                    <a:lnB>
                      <a:noFill/>
                    </a:lnB>
                    <a:noFill/>
                  </a:tcPr>
                </a:tc>
                <a:tc>
                  <a:txBody>
                    <a:bodyPr/>
                    <a:lstStyle/>
                    <a:p>
                      <a:pPr>
                        <a:buNone/>
                      </a:pPr>
                      <a:r>
                        <a:rPr lang="en-IN" dirty="0"/>
                        <a:t>Logistic Regression, Decision Tree, Random Forest, XGBoost</a:t>
                      </a:r>
                    </a:p>
                  </a:txBody>
                  <a:tcPr anchor="ctr">
                    <a:lnL>
                      <a:noFill/>
                    </a:lnL>
                    <a:lnR>
                      <a:noFill/>
                    </a:lnR>
                    <a:lnT>
                      <a:noFill/>
                    </a:lnT>
                    <a:lnB>
                      <a:noFill/>
                    </a:lnB>
                    <a:noFill/>
                  </a:tcPr>
                </a:tc>
                <a:tc>
                  <a:txBody>
                    <a:bodyPr/>
                    <a:lstStyle/>
                    <a:p>
                      <a:pPr>
                        <a:buNone/>
                      </a:pPr>
                      <a:r>
                        <a:rPr lang="en-IN" dirty="0"/>
                        <a:t>Accuracy ~85–92%</a:t>
                      </a:r>
                    </a:p>
                  </a:txBody>
                  <a:tcPr anchor="ctr">
                    <a:lnL>
                      <a:noFill/>
                    </a:lnL>
                    <a:lnR>
                      <a:noFill/>
                    </a:lnR>
                    <a:lnT>
                      <a:noFill/>
                    </a:lnT>
                    <a:lnB>
                      <a:noFill/>
                    </a:lnB>
                    <a:noFill/>
                  </a:tcPr>
                </a:tc>
                <a:tc>
                  <a:txBody>
                    <a:bodyPr/>
                    <a:lstStyle/>
                    <a:p>
                      <a:pPr>
                        <a:buNone/>
                      </a:pPr>
                      <a:r>
                        <a:rPr lang="en-IN" dirty="0"/>
                        <a:t>Limited explainability in complex models</a:t>
                      </a:r>
                    </a:p>
                  </a:txBody>
                  <a:tcPr anchor="ctr">
                    <a:lnL>
                      <a:noFill/>
                    </a:lnL>
                    <a:lnR>
                      <a:noFill/>
                    </a:lnR>
                    <a:lnT>
                      <a:noFill/>
                    </a:lnT>
                    <a:lnB>
                      <a:noFill/>
                    </a:lnB>
                    <a:noFill/>
                  </a:tcPr>
                </a:tc>
                <a:extLst>
                  <a:ext uri="{0D108BD9-81ED-4DB2-BD59-A6C34878D82A}">
                    <a16:rowId xmlns:a16="http://schemas.microsoft.com/office/drawing/2014/main" val="3819015552"/>
                  </a:ext>
                </a:extLst>
              </a:tr>
              <a:tr h="1165046">
                <a:tc>
                  <a:txBody>
                    <a:bodyPr/>
                    <a:lstStyle/>
                    <a:p>
                      <a:pPr>
                        <a:buNone/>
                      </a:pPr>
                      <a:r>
                        <a:rPr lang="en-IN" dirty="0"/>
                        <a:t>Credit Risk Prediction Using ML (2024)</a:t>
                      </a:r>
                    </a:p>
                  </a:txBody>
                  <a:tcPr anchor="ctr">
                    <a:lnL>
                      <a:noFill/>
                    </a:lnL>
                    <a:lnR>
                      <a:noFill/>
                    </a:lnR>
                    <a:lnT>
                      <a:noFill/>
                    </a:lnT>
                    <a:lnB>
                      <a:noFill/>
                    </a:lnB>
                    <a:noFill/>
                  </a:tcPr>
                </a:tc>
                <a:tc>
                  <a:txBody>
                    <a:bodyPr/>
                    <a:lstStyle/>
                    <a:p>
                      <a:pPr>
                        <a:buNone/>
                      </a:pPr>
                      <a:r>
                        <a:rPr lang="en-IN" dirty="0"/>
                        <a:t>SVM, RF, Gradient Boosting, AdaBoost</a:t>
                      </a:r>
                    </a:p>
                  </a:txBody>
                  <a:tcPr anchor="ctr">
                    <a:lnL>
                      <a:noFill/>
                    </a:lnL>
                    <a:lnR>
                      <a:noFill/>
                    </a:lnR>
                    <a:lnT>
                      <a:noFill/>
                    </a:lnT>
                    <a:lnB>
                      <a:noFill/>
                    </a:lnB>
                    <a:noFill/>
                  </a:tcPr>
                </a:tc>
                <a:tc>
                  <a:txBody>
                    <a:bodyPr/>
                    <a:lstStyle/>
                    <a:p>
                      <a:pPr>
                        <a:buNone/>
                      </a:pPr>
                      <a:r>
                        <a:rPr lang="en-IN" dirty="0"/>
                        <a:t>AUC ~0.88</a:t>
                      </a:r>
                    </a:p>
                  </a:txBody>
                  <a:tcPr anchor="ctr">
                    <a:lnL>
                      <a:noFill/>
                    </a:lnL>
                    <a:lnR>
                      <a:noFill/>
                    </a:lnR>
                    <a:lnT>
                      <a:noFill/>
                    </a:lnT>
                    <a:lnB>
                      <a:noFill/>
                    </a:lnB>
                    <a:noFill/>
                  </a:tcPr>
                </a:tc>
                <a:tc>
                  <a:txBody>
                    <a:bodyPr/>
                    <a:lstStyle/>
                    <a:p>
                      <a:pPr>
                        <a:buNone/>
                      </a:pPr>
                      <a:r>
                        <a:rPr lang="en-IN" dirty="0"/>
                        <a:t>Focus only on prediction, no loan optimization</a:t>
                      </a:r>
                    </a:p>
                  </a:txBody>
                  <a:tcPr anchor="ctr">
                    <a:lnL>
                      <a:noFill/>
                    </a:lnL>
                    <a:lnR>
                      <a:noFill/>
                    </a:lnR>
                    <a:lnT>
                      <a:noFill/>
                    </a:lnT>
                    <a:lnB>
                      <a:noFill/>
                    </a:lnB>
                    <a:noFill/>
                  </a:tcPr>
                </a:tc>
                <a:extLst>
                  <a:ext uri="{0D108BD9-81ED-4DB2-BD59-A6C34878D82A}">
                    <a16:rowId xmlns:a16="http://schemas.microsoft.com/office/drawing/2014/main" val="529276091"/>
                  </a:ext>
                </a:extLst>
              </a:tr>
              <a:tr h="1026820">
                <a:tc>
                  <a:txBody>
                    <a:bodyPr/>
                    <a:lstStyle/>
                    <a:p>
                      <a:pPr>
                        <a:buNone/>
                      </a:pPr>
                      <a:r>
                        <a:rPr lang="en-IN" dirty="0"/>
                        <a:t>Explainable AI for Loan Approval (2025)</a:t>
                      </a:r>
                    </a:p>
                  </a:txBody>
                  <a:tcPr anchor="ctr">
                    <a:lnL>
                      <a:noFill/>
                    </a:lnL>
                    <a:lnR>
                      <a:noFill/>
                    </a:lnR>
                    <a:lnT>
                      <a:noFill/>
                    </a:lnT>
                    <a:lnB>
                      <a:noFill/>
                    </a:lnB>
                    <a:noFill/>
                  </a:tcPr>
                </a:tc>
                <a:tc>
                  <a:txBody>
                    <a:bodyPr/>
                    <a:lstStyle/>
                    <a:p>
                      <a:pPr>
                        <a:buNone/>
                      </a:pPr>
                      <a:r>
                        <a:rPr lang="en-IN" dirty="0"/>
                        <a:t>XGBoost + SHAP, LIME, Neural Networks</a:t>
                      </a:r>
                    </a:p>
                  </a:txBody>
                  <a:tcPr anchor="ctr">
                    <a:lnL>
                      <a:noFill/>
                    </a:lnL>
                    <a:lnR>
                      <a:noFill/>
                    </a:lnR>
                    <a:lnT>
                      <a:noFill/>
                    </a:lnT>
                    <a:lnB>
                      <a:noFill/>
                    </a:lnB>
                    <a:noFill/>
                  </a:tcPr>
                </a:tc>
                <a:tc>
                  <a:txBody>
                    <a:bodyPr/>
                    <a:lstStyle/>
                    <a:p>
                      <a:pPr>
                        <a:buNone/>
                      </a:pPr>
                      <a:r>
                        <a:rPr lang="en-IN" dirty="0"/>
                        <a:t>Accuracy ~90%+</a:t>
                      </a:r>
                    </a:p>
                  </a:txBody>
                  <a:tcPr anchor="ctr">
                    <a:lnL>
                      <a:noFill/>
                    </a:lnL>
                    <a:lnR>
                      <a:noFill/>
                    </a:lnR>
                    <a:lnT>
                      <a:noFill/>
                    </a:lnT>
                    <a:lnB>
                      <a:noFill/>
                    </a:lnB>
                    <a:noFill/>
                  </a:tcPr>
                </a:tc>
                <a:tc>
                  <a:txBody>
                    <a:bodyPr/>
                    <a:lstStyle/>
                    <a:p>
                      <a:pPr>
                        <a:buNone/>
                      </a:pPr>
                      <a:r>
                        <a:rPr lang="en-IN" dirty="0"/>
                        <a:t>Needs better real-time deployment</a:t>
                      </a:r>
                    </a:p>
                  </a:txBody>
                  <a:tcPr anchor="ctr">
                    <a:lnL>
                      <a:noFill/>
                    </a:lnL>
                    <a:lnR>
                      <a:noFill/>
                    </a:lnR>
                    <a:lnT>
                      <a:noFill/>
                    </a:lnT>
                    <a:lnB>
                      <a:noFill/>
                    </a:lnB>
                    <a:noFill/>
                  </a:tcPr>
                </a:tc>
                <a:extLst>
                  <a:ext uri="{0D108BD9-81ED-4DB2-BD59-A6C34878D82A}">
                    <a16:rowId xmlns:a16="http://schemas.microsoft.com/office/drawing/2014/main" val="4177730787"/>
                  </a:ext>
                </a:extLst>
              </a:tr>
              <a:tr h="888593">
                <a:tc>
                  <a:txBody>
                    <a:bodyPr/>
                    <a:lstStyle/>
                    <a:p>
                      <a:pPr>
                        <a:buNone/>
                      </a:pPr>
                      <a:r>
                        <a:rPr lang="en-IN" dirty="0"/>
                        <a:t>Banking Risk Analysis using ML (2024)</a:t>
                      </a:r>
                    </a:p>
                  </a:txBody>
                  <a:tcPr anchor="ctr">
                    <a:lnL>
                      <a:noFill/>
                    </a:lnL>
                    <a:lnR>
                      <a:noFill/>
                    </a:lnR>
                    <a:lnT>
                      <a:noFill/>
                    </a:lnT>
                    <a:lnB>
                      <a:noFill/>
                    </a:lnB>
                    <a:noFill/>
                  </a:tcPr>
                </a:tc>
                <a:tc>
                  <a:txBody>
                    <a:bodyPr/>
                    <a:lstStyle/>
                    <a:p>
                      <a:pPr>
                        <a:buNone/>
                      </a:pPr>
                      <a:r>
                        <a:rPr lang="en-IN" dirty="0"/>
                        <a:t>Logistic Regression, ANN, LightGBM</a:t>
                      </a:r>
                    </a:p>
                  </a:txBody>
                  <a:tcPr anchor="ctr">
                    <a:lnL>
                      <a:noFill/>
                    </a:lnL>
                    <a:lnR>
                      <a:noFill/>
                    </a:lnR>
                    <a:lnT>
                      <a:noFill/>
                    </a:lnT>
                    <a:lnB>
                      <a:noFill/>
                    </a:lnB>
                    <a:noFill/>
                  </a:tcPr>
                </a:tc>
                <a:tc>
                  <a:txBody>
                    <a:bodyPr/>
                    <a:lstStyle/>
                    <a:p>
                      <a:pPr>
                        <a:buNone/>
                      </a:pPr>
                      <a:r>
                        <a:rPr lang="en-IN" dirty="0"/>
                        <a:t>Accuracy ~87–91%</a:t>
                      </a:r>
                    </a:p>
                  </a:txBody>
                  <a:tcPr anchor="ctr">
                    <a:lnL>
                      <a:noFill/>
                    </a:lnL>
                    <a:lnR>
                      <a:noFill/>
                    </a:lnR>
                    <a:lnT>
                      <a:noFill/>
                    </a:lnT>
                    <a:lnB>
                      <a:noFill/>
                    </a:lnB>
                    <a:noFill/>
                  </a:tcPr>
                </a:tc>
                <a:tc>
                  <a:txBody>
                    <a:bodyPr/>
                    <a:lstStyle/>
                    <a:p>
                      <a:pPr>
                        <a:buNone/>
                      </a:pPr>
                      <a:r>
                        <a:rPr lang="en-IN" dirty="0"/>
                        <a:t>No EMI or loan amount recommendation</a:t>
                      </a:r>
                    </a:p>
                  </a:txBody>
                  <a:tcPr anchor="ctr">
                    <a:lnL>
                      <a:noFill/>
                    </a:lnL>
                    <a:lnR>
                      <a:noFill/>
                    </a:lnR>
                    <a:lnT>
                      <a:noFill/>
                    </a:lnT>
                    <a:lnB>
                      <a:noFill/>
                    </a:lnB>
                    <a:noFill/>
                  </a:tcPr>
                </a:tc>
                <a:extLst>
                  <a:ext uri="{0D108BD9-81ED-4DB2-BD59-A6C34878D82A}">
                    <a16:rowId xmlns:a16="http://schemas.microsoft.com/office/drawing/2014/main" val="2862118882"/>
                  </a:ext>
                </a:extLst>
              </a:tr>
            </a:tbl>
          </a:graphicData>
        </a:graphic>
      </p:graphicFrame>
    </p:spTree>
    <p:extLst>
      <p:ext uri="{BB962C8B-B14F-4D97-AF65-F5344CB8AC3E}">
        <p14:creationId xmlns:p14="http://schemas.microsoft.com/office/powerpoint/2010/main" val="3624547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232D14E-EE81-BEA8-21C1-542F5DEC26CA}"/>
            </a:ext>
          </a:extLst>
        </p:cNvPr>
        <p:cNvGrpSpPr/>
        <p:nvPr/>
      </p:nvGrpSpPr>
      <p:grpSpPr>
        <a:xfrm>
          <a:off x="0" y="0"/>
          <a:ext cx="0" cy="0"/>
          <a:chOff x="0" y="0"/>
          <a:chExt cx="0" cy="0"/>
        </a:xfrm>
      </p:grpSpPr>
      <p:sp>
        <p:nvSpPr>
          <p:cNvPr id="62" name="Google Shape;62;p2">
            <a:extLst>
              <a:ext uri="{FF2B5EF4-FFF2-40B4-BE49-F238E27FC236}">
                <a16:creationId xmlns:a16="http://schemas.microsoft.com/office/drawing/2014/main" id="{CF82B9DD-BD01-BE97-517F-749705D975DD}"/>
              </a:ext>
            </a:extLst>
          </p:cNvPr>
          <p:cNvSpPr txBox="1">
            <a:spLocks noGrp="1"/>
          </p:cNvSpPr>
          <p:nvPr>
            <p:ph type="title"/>
          </p:nvPr>
        </p:nvSpPr>
        <p:spPr>
          <a:xfrm>
            <a:off x="2824894" y="137160"/>
            <a:ext cx="4187162" cy="773016"/>
          </a:xfrm>
          <a:prstGeom prst="rect">
            <a:avLst/>
          </a:prstGeom>
          <a:noFill/>
          <a:ln>
            <a:noFill/>
          </a:ln>
        </p:spPr>
        <p:txBody>
          <a:bodyPr spcFirstLastPara="1" wrap="square" lIns="0" tIns="216900" rIns="0" bIns="0" anchor="t" anchorCtr="0">
            <a:spAutoFit/>
          </a:bodyPr>
          <a:lstStyle/>
          <a:p>
            <a:pPr marL="12700" lvl="0"/>
            <a:r>
              <a:rPr lang="en-GB" sz="3600" dirty="0">
                <a:solidFill>
                  <a:srgbClr val="FF0000"/>
                </a:solidFill>
              </a:rPr>
              <a:t>Base Paper Selection</a:t>
            </a:r>
            <a:endParaRPr sz="3600" dirty="0">
              <a:solidFill>
                <a:srgbClr val="FF0000"/>
              </a:solidFill>
            </a:endParaRPr>
          </a:p>
        </p:txBody>
      </p:sp>
      <p:sp>
        <p:nvSpPr>
          <p:cNvPr id="64" name="Google Shape;64;p2">
            <a:extLst>
              <a:ext uri="{FF2B5EF4-FFF2-40B4-BE49-F238E27FC236}">
                <a16:creationId xmlns:a16="http://schemas.microsoft.com/office/drawing/2014/main" id="{741D38C7-9908-094D-C848-9BA085FD1782}"/>
              </a:ext>
            </a:extLst>
          </p:cNvPr>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4</a:t>
            </a:fld>
            <a:endParaRPr dirty="0"/>
          </a:p>
        </p:txBody>
      </p:sp>
      <p:sp>
        <p:nvSpPr>
          <p:cNvPr id="4" name="TextBox 3">
            <a:extLst>
              <a:ext uri="{FF2B5EF4-FFF2-40B4-BE49-F238E27FC236}">
                <a16:creationId xmlns:a16="http://schemas.microsoft.com/office/drawing/2014/main" id="{2A5861B0-D818-95CF-EE90-A6590BB61962}"/>
              </a:ext>
            </a:extLst>
          </p:cNvPr>
          <p:cNvSpPr txBox="1"/>
          <p:nvPr/>
        </p:nvSpPr>
        <p:spPr>
          <a:xfrm>
            <a:off x="782403" y="1043264"/>
            <a:ext cx="8272144" cy="5955476"/>
          </a:xfrm>
          <a:prstGeom prst="rect">
            <a:avLst/>
          </a:prstGeom>
          <a:noFill/>
        </p:spPr>
        <p:txBody>
          <a:bodyPr wrap="square">
            <a:spAutoFit/>
          </a:bodyPr>
          <a:lstStyle/>
          <a:p>
            <a:pPr>
              <a:lnSpc>
                <a:spcPct val="150000"/>
              </a:lnSpc>
            </a:pPr>
            <a:r>
              <a:rPr lang="en-IN" sz="1600" b="1" dirty="0">
                <a:latin typeface="Times New Roman" panose="02020603050405020304" pitchFamily="18" charset="0"/>
                <a:cs typeface="Times New Roman" panose="02020603050405020304" pitchFamily="18" charset="0"/>
              </a:rPr>
              <a:t>Title:</a:t>
            </a:r>
            <a:r>
              <a:rPr lang="en-IN" sz="1600" dirty="0">
                <a:latin typeface="Times New Roman" panose="02020603050405020304" pitchFamily="18" charset="0"/>
                <a:cs typeface="Times New Roman" panose="02020603050405020304" pitchFamily="18" charset="0"/>
              </a:rPr>
              <a:t> A Novel Hybrid Model for Loan Default Prediction in Maritime Finance Based on Topological Data Analysis and Machine Learning</a:t>
            </a:r>
          </a:p>
          <a:p>
            <a:pPr>
              <a:lnSpc>
                <a:spcPct val="150000"/>
              </a:lnSpc>
            </a:pPr>
            <a:r>
              <a:rPr lang="en-IN" sz="1600" b="1" dirty="0">
                <a:latin typeface="Times New Roman" panose="02020603050405020304" pitchFamily="18" charset="0"/>
                <a:cs typeface="Times New Roman" panose="02020603050405020304" pitchFamily="18" charset="0"/>
              </a:rPr>
              <a:t>Publication Details: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Journal:</a:t>
            </a:r>
            <a:r>
              <a:rPr lang="en-IN" sz="1600" dirty="0">
                <a:latin typeface="Times New Roman" panose="02020603050405020304" pitchFamily="18" charset="0"/>
                <a:cs typeface="Times New Roman" panose="02020603050405020304" pitchFamily="18" charset="0"/>
              </a:rPr>
              <a:t> IEEE Access </a:t>
            </a:r>
          </a:p>
          <a:p>
            <a:pPr>
              <a:lnSpc>
                <a:spcPct val="150000"/>
              </a:lnSpc>
            </a:pPr>
            <a:r>
              <a:rPr lang="en-IN" sz="1600" b="1" dirty="0">
                <a:latin typeface="Times New Roman" panose="02020603050405020304" pitchFamily="18" charset="0"/>
                <a:cs typeface="Times New Roman" panose="02020603050405020304" pitchFamily="18" charset="0"/>
              </a:rPr>
              <a:t>Publisher:</a:t>
            </a:r>
            <a:r>
              <a:rPr lang="en-IN" sz="1600" dirty="0">
                <a:latin typeface="Times New Roman" panose="02020603050405020304" pitchFamily="18" charset="0"/>
                <a:cs typeface="Times New Roman" panose="02020603050405020304" pitchFamily="18" charset="0"/>
              </a:rPr>
              <a:t> IEEE </a:t>
            </a:r>
          </a:p>
          <a:p>
            <a:pPr>
              <a:lnSpc>
                <a:spcPct val="150000"/>
              </a:lnSpc>
            </a:pPr>
            <a:r>
              <a:rPr lang="en-IN" sz="1600" b="1" dirty="0">
                <a:latin typeface="Times New Roman" panose="02020603050405020304" pitchFamily="18" charset="0"/>
                <a:cs typeface="Times New Roman" panose="02020603050405020304" pitchFamily="18" charset="0"/>
              </a:rPr>
              <a:t>Year:</a:t>
            </a:r>
            <a:r>
              <a:rPr lang="en-IN" sz="1600" dirty="0">
                <a:latin typeface="Times New Roman" panose="02020603050405020304" pitchFamily="18" charset="0"/>
                <a:cs typeface="Times New Roman" panose="02020603050405020304" pitchFamily="18" charset="0"/>
              </a:rPr>
              <a:t> 2025 </a:t>
            </a:r>
          </a:p>
          <a:p>
            <a:pPr>
              <a:lnSpc>
                <a:spcPct val="150000"/>
              </a:lnSpc>
            </a:pPr>
            <a:r>
              <a:rPr lang="en-IN" sz="1600" b="1" dirty="0">
                <a:latin typeface="Times New Roman" panose="02020603050405020304" pitchFamily="18" charset="0"/>
                <a:cs typeface="Times New Roman" panose="02020603050405020304" pitchFamily="18" charset="0"/>
              </a:rPr>
              <a:t>Best Model:</a:t>
            </a:r>
            <a:r>
              <a:rPr lang="en-IN" sz="1600" dirty="0">
                <a:latin typeface="Times New Roman" panose="02020603050405020304" pitchFamily="18" charset="0"/>
                <a:cs typeface="Times New Roman" panose="02020603050405020304" pitchFamily="18" charset="0"/>
              </a:rPr>
              <a:t> XGBoost + SHAP + TDA (Topological Data Analysis) </a:t>
            </a:r>
          </a:p>
          <a:p>
            <a:pPr>
              <a:lnSpc>
                <a:spcPct val="150000"/>
              </a:lnSpc>
            </a:pPr>
            <a:r>
              <a:rPr lang="en-IN" sz="1600" b="1" dirty="0">
                <a:latin typeface="Times New Roman" panose="02020603050405020304" pitchFamily="18" charset="0"/>
                <a:cs typeface="Times New Roman" panose="02020603050405020304" pitchFamily="18" charset="0"/>
              </a:rPr>
              <a:t>Accuracy:</a:t>
            </a:r>
            <a:r>
              <a:rPr lang="en-IN" sz="1600" dirty="0">
                <a:latin typeface="Times New Roman" panose="02020603050405020304" pitchFamily="18" charset="0"/>
                <a:cs typeface="Times New Roman" panose="02020603050405020304" pitchFamily="18" charset="0"/>
              </a:rPr>
              <a:t> ROC-AUC = 0.973 (very high performance) </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800" b="1" dirty="0">
                <a:latin typeface="Times New Roman" panose="02020603050405020304" pitchFamily="18" charset="0"/>
                <a:cs typeface="Times New Roman" panose="02020603050405020304" pitchFamily="18" charset="0"/>
              </a:rPr>
              <a:t>Reason:</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Recent publication (2025) </a:t>
            </a:r>
          </a:p>
          <a:p>
            <a:pPr>
              <a:lnSpc>
                <a:spcPct val="150000"/>
              </a:lnSpc>
            </a:pPr>
            <a:r>
              <a:rPr lang="en-IN" sz="1600" dirty="0">
                <a:latin typeface="Times New Roman" panose="02020603050405020304" pitchFamily="18" charset="0"/>
                <a:cs typeface="Times New Roman" panose="02020603050405020304" pitchFamily="18" charset="0"/>
              </a:rPr>
              <a:t>High impact IEEE journal </a:t>
            </a:r>
          </a:p>
          <a:p>
            <a:pPr>
              <a:lnSpc>
                <a:spcPct val="150000"/>
              </a:lnSpc>
            </a:pPr>
            <a:r>
              <a:rPr lang="en-IN" sz="1600" dirty="0">
                <a:latin typeface="Times New Roman" panose="02020603050405020304" pitchFamily="18" charset="0"/>
                <a:cs typeface="Times New Roman" panose="02020603050405020304" pitchFamily="18" charset="0"/>
              </a:rPr>
              <a:t>Uses advanced ML + Graph,Topological features (TDA) </a:t>
            </a:r>
          </a:p>
          <a:p>
            <a:pPr>
              <a:lnSpc>
                <a:spcPct val="150000"/>
              </a:lnSpc>
            </a:pPr>
            <a:r>
              <a:rPr lang="en-IN" sz="1600" dirty="0">
                <a:latin typeface="Times New Roman" panose="02020603050405020304" pitchFamily="18" charset="0"/>
                <a:cs typeface="Times New Roman" panose="02020603050405020304" pitchFamily="18" charset="0"/>
              </a:rPr>
              <a:t>Includes Explainable AI SHAP for interpretability </a:t>
            </a:r>
          </a:p>
          <a:p>
            <a:pPr>
              <a:lnSpc>
                <a:spcPct val="150000"/>
              </a:lnSpc>
            </a:pPr>
            <a:r>
              <a:rPr lang="en-IN" sz="1600" dirty="0">
                <a:latin typeface="Times New Roman" panose="02020603050405020304" pitchFamily="18" charset="0"/>
                <a:cs typeface="Times New Roman" panose="02020603050405020304" pitchFamily="18" charset="0"/>
              </a:rPr>
              <a:t>Strong predictive performance compared to traditional models </a:t>
            </a:r>
          </a:p>
          <a:p>
            <a:pPr>
              <a:lnSpc>
                <a:spcPct val="150000"/>
              </a:lnSpc>
            </a:pPr>
            <a:r>
              <a:rPr lang="en-IN" sz="1600" dirty="0">
                <a:latin typeface="Times New Roman" panose="02020603050405020304" pitchFamily="18" charset="0"/>
                <a:cs typeface="Times New Roman" panose="02020603050405020304" pitchFamily="18" charset="0"/>
              </a:rPr>
              <a:t>Provides scope for further improvement in credit risk systems</a:t>
            </a:r>
          </a:p>
          <a:p>
            <a:pPr>
              <a:buNone/>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1485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4FB4CD-5F04-E5F3-6F4C-E35484A1CE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3" name="TextBox 2">
            <a:extLst>
              <a:ext uri="{FF2B5EF4-FFF2-40B4-BE49-F238E27FC236}">
                <a16:creationId xmlns:a16="http://schemas.microsoft.com/office/drawing/2014/main" id="{6A161C9C-716F-A01D-2E53-79644D3958CB}"/>
              </a:ext>
            </a:extLst>
          </p:cNvPr>
          <p:cNvSpPr txBox="1"/>
          <p:nvPr/>
        </p:nvSpPr>
        <p:spPr>
          <a:xfrm>
            <a:off x="2812026" y="665118"/>
            <a:ext cx="6331974" cy="584775"/>
          </a:xfrm>
          <a:prstGeom prst="rect">
            <a:avLst/>
          </a:prstGeom>
          <a:noFill/>
        </p:spPr>
        <p:txBody>
          <a:bodyPr wrap="squar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Algorithms Used</a:t>
            </a:r>
          </a:p>
        </p:txBody>
      </p:sp>
      <p:sp>
        <p:nvSpPr>
          <p:cNvPr id="4" name="TextBox 3">
            <a:extLst>
              <a:ext uri="{FF2B5EF4-FFF2-40B4-BE49-F238E27FC236}">
                <a16:creationId xmlns:a16="http://schemas.microsoft.com/office/drawing/2014/main" id="{1E6AB16B-8122-DB04-89B3-083C722D2199}"/>
              </a:ext>
            </a:extLst>
          </p:cNvPr>
          <p:cNvSpPr txBox="1"/>
          <p:nvPr/>
        </p:nvSpPr>
        <p:spPr>
          <a:xfrm>
            <a:off x="1465007" y="1858297"/>
            <a:ext cx="7413522" cy="3002745"/>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Autoencoder Outlier Detection</a:t>
            </a:r>
            <a:r>
              <a:rPr lang="en-IN" sz="1600" dirty="0">
                <a:latin typeface="Times New Roman" panose="02020603050405020304" pitchFamily="18" charset="0"/>
                <a:cs typeface="Times New Roman" panose="02020603050405020304" pitchFamily="18" charset="0"/>
              </a:rPr>
              <a:t>– Removes noisy and abnormal data.</a:t>
            </a:r>
          </a:p>
          <a:p>
            <a:pPr>
              <a:lnSpc>
                <a:spcPct val="150000"/>
              </a:lnSpc>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Cost-Sensitive Neural Network </a:t>
            </a:r>
            <a:r>
              <a:rPr lang="en-IN" sz="1600" dirty="0">
                <a:latin typeface="Times New Roman" panose="02020603050405020304" pitchFamily="18" charset="0"/>
                <a:cs typeface="Times New Roman" panose="02020603050405020304" pitchFamily="18" charset="0"/>
              </a:rPr>
              <a:t>– Gives more importance to the minority class during training. </a:t>
            </a:r>
          </a:p>
          <a:p>
            <a:pPr>
              <a:lnSpc>
                <a:spcPct val="150000"/>
              </a:lnSpc>
            </a:pPr>
            <a:r>
              <a:rPr lang="en-IN" sz="1600" b="1" dirty="0">
                <a:latin typeface="Times New Roman" panose="02020603050405020304" pitchFamily="18" charset="0"/>
                <a:cs typeface="Times New Roman" panose="02020603050405020304" pitchFamily="18" charset="0"/>
              </a:rPr>
              <a:t>Neural Network</a:t>
            </a:r>
            <a:r>
              <a:rPr lang="en-IN" sz="1600" dirty="0">
                <a:latin typeface="Times New Roman" panose="02020603050405020304" pitchFamily="18" charset="0"/>
                <a:cs typeface="Times New Roman" panose="02020603050405020304" pitchFamily="18" charset="0"/>
              </a:rPr>
              <a:t> – Learns patterns from customer information to predict loan repayment. </a:t>
            </a:r>
          </a:p>
          <a:p>
            <a:pPr>
              <a:lnSpc>
                <a:spcPct val="150000"/>
              </a:lnSpc>
            </a:pPr>
            <a:r>
              <a:rPr lang="en-IN" sz="1600" b="1" dirty="0">
                <a:latin typeface="Times New Roman" panose="02020603050405020304" pitchFamily="18" charset="0"/>
                <a:cs typeface="Times New Roman" panose="02020603050405020304" pitchFamily="18" charset="0"/>
              </a:rPr>
              <a:t>Adam Optimizer</a:t>
            </a:r>
            <a:r>
              <a:rPr lang="en-IN" sz="1600" dirty="0">
                <a:latin typeface="Times New Roman" panose="02020603050405020304" pitchFamily="18" charset="0"/>
                <a:cs typeface="Times New Roman" panose="02020603050405020304" pitchFamily="18" charset="0"/>
              </a:rPr>
              <a:t> – Updates the neural network weights efficiently during training.</a:t>
            </a:r>
          </a:p>
          <a:p>
            <a:pPr>
              <a:lnSpc>
                <a:spcPct val="150000"/>
              </a:lnSpc>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Majority Voting</a:t>
            </a:r>
            <a:r>
              <a:rPr lang="en-IN" sz="1600" dirty="0">
                <a:latin typeface="Times New Roman" panose="02020603050405020304" pitchFamily="18" charset="0"/>
                <a:cs typeface="Times New Roman" panose="02020603050405020304" pitchFamily="18" charset="0"/>
              </a:rPr>
              <a:t> – Combines the predictions from multiple neural networks to produce the final result.</a:t>
            </a:r>
          </a:p>
        </p:txBody>
      </p:sp>
    </p:spTree>
    <p:extLst>
      <p:ext uri="{BB962C8B-B14F-4D97-AF65-F5344CB8AC3E}">
        <p14:creationId xmlns:p14="http://schemas.microsoft.com/office/powerpoint/2010/main" val="596683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C471E3-8680-73F3-89B3-09099122D6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3" name="TextBox 2">
            <a:extLst>
              <a:ext uri="{FF2B5EF4-FFF2-40B4-BE49-F238E27FC236}">
                <a16:creationId xmlns:a16="http://schemas.microsoft.com/office/drawing/2014/main" id="{B0CFB6B1-B1A2-2A16-097C-7AF3C96F313B}"/>
              </a:ext>
            </a:extLst>
          </p:cNvPr>
          <p:cNvSpPr txBox="1"/>
          <p:nvPr/>
        </p:nvSpPr>
        <p:spPr>
          <a:xfrm>
            <a:off x="1248696" y="228123"/>
            <a:ext cx="7688826" cy="5970865"/>
          </a:xfrm>
          <a:prstGeom prst="rect">
            <a:avLst/>
          </a:prstGeom>
          <a:noFill/>
        </p:spPr>
        <p:txBody>
          <a:bodyPr wrap="square" rtlCol="0">
            <a:spAutoFit/>
          </a:bodyPr>
          <a:lstStyle/>
          <a:p>
            <a:pPr>
              <a:lnSpc>
                <a:spcPct val="200000"/>
              </a:lnSpc>
            </a:pPr>
            <a:r>
              <a:rPr lang="en-IN" sz="1800" b="1" dirty="0">
                <a:solidFill>
                  <a:srgbClr val="FF0000"/>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Cost-Sensitive Neural Network </a:t>
            </a:r>
          </a:p>
          <a:p>
            <a:pPr>
              <a:lnSpc>
                <a:spcPct val="200000"/>
              </a:lnSpc>
            </a:pPr>
            <a:r>
              <a:rPr lang="en-IN" sz="1600" b="1" dirty="0">
                <a:latin typeface="Times New Roman" panose="02020603050405020304" pitchFamily="18" charset="0"/>
                <a:cs typeface="Times New Roman" panose="02020603050405020304" pitchFamily="18" charset="0"/>
              </a:rPr>
              <a:t>Step 1: Data Collection</a:t>
            </a:r>
          </a:p>
          <a:p>
            <a:pPr>
              <a:lnSpc>
                <a:spcPct val="200000"/>
              </a:lnSpc>
            </a:pPr>
            <a:r>
              <a:rPr lang="en-IN" sz="1600" dirty="0">
                <a:latin typeface="Times New Roman" panose="02020603050405020304" pitchFamily="18" charset="0"/>
                <a:cs typeface="Times New Roman" panose="02020603050405020304" pitchFamily="18" charset="0"/>
              </a:rPr>
              <a:t>The system first collects customer information such as age, income, employment status, loan amount, repayment history, and other financial details. This data is used to determine whether a customer is likely to repay a loan or default.</a:t>
            </a:r>
          </a:p>
          <a:p>
            <a:pPr>
              <a:lnSpc>
                <a:spcPct val="200000"/>
              </a:lnSpc>
            </a:pPr>
            <a:r>
              <a:rPr lang="en-IN" sz="1600" b="1" dirty="0">
                <a:latin typeface="Times New Roman" panose="02020603050405020304" pitchFamily="18" charset="0"/>
                <a:cs typeface="Times New Roman" panose="02020603050405020304" pitchFamily="18" charset="0"/>
              </a:rPr>
              <a:t>Step 2: Data Preprocessing</a:t>
            </a:r>
          </a:p>
          <a:p>
            <a:pPr>
              <a:lnSpc>
                <a:spcPct val="200000"/>
              </a:lnSpc>
            </a:pPr>
            <a:r>
              <a:rPr lang="en-IN" sz="1600" dirty="0">
                <a:latin typeface="Times New Roman" panose="02020603050405020304" pitchFamily="18" charset="0"/>
                <a:cs typeface="Times New Roman" panose="02020603050405020304" pitchFamily="18" charset="0"/>
              </a:rPr>
              <a:t>The collected data is cleaned before training the model. Missing values are filled, unnecessary columns are removed, and noisy or abnormal records are detected using Autoencoder Outlier Detection . Categorical values such as gender or occupation are converted into numerical values using One-Hot Encoding, and all numerical values are normalized between 0 and 1. </a:t>
            </a:r>
          </a:p>
          <a:p>
            <a:endParaRPr lang="en-IN" dirty="0"/>
          </a:p>
        </p:txBody>
      </p:sp>
    </p:spTree>
    <p:extLst>
      <p:ext uri="{BB962C8B-B14F-4D97-AF65-F5344CB8AC3E}">
        <p14:creationId xmlns:p14="http://schemas.microsoft.com/office/powerpoint/2010/main" val="699207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38054B-2428-C68C-44A3-F7586CFAC3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3" name="TextBox 2">
            <a:extLst>
              <a:ext uri="{FF2B5EF4-FFF2-40B4-BE49-F238E27FC236}">
                <a16:creationId xmlns:a16="http://schemas.microsoft.com/office/drawing/2014/main" id="{8C633CAF-DF2B-0590-8559-F60A151041C4}"/>
              </a:ext>
            </a:extLst>
          </p:cNvPr>
          <p:cNvSpPr txBox="1"/>
          <p:nvPr/>
        </p:nvSpPr>
        <p:spPr>
          <a:xfrm>
            <a:off x="1435510" y="176489"/>
            <a:ext cx="7580671" cy="6924973"/>
          </a:xfrm>
          <a:prstGeom prst="rect">
            <a:avLst/>
          </a:prstGeom>
          <a:noFill/>
        </p:spPr>
        <p:txBody>
          <a:bodyPr wrap="square" rtlCol="0">
            <a:spAutoFit/>
          </a:bodyPr>
          <a:lstStyle/>
          <a:p>
            <a:pPr>
              <a:lnSpc>
                <a:spcPct val="200000"/>
              </a:lnSpc>
            </a:pPr>
            <a:r>
              <a:rPr lang="en-IN" sz="1600" b="1" dirty="0">
                <a:latin typeface="Times New Roman" panose="02020603050405020304" pitchFamily="18" charset="0"/>
                <a:cs typeface="Times New Roman" panose="02020603050405020304" pitchFamily="18" charset="0"/>
              </a:rPr>
              <a:t>Step 3: Calculate Class Weights</a:t>
            </a:r>
          </a:p>
          <a:p>
            <a:pPr>
              <a:lnSpc>
                <a:spcPct val="200000"/>
              </a:lnSpc>
            </a:pPr>
            <a:r>
              <a:rPr lang="en-IN" sz="1600" dirty="0">
                <a:latin typeface="Times New Roman" panose="02020603050405020304" pitchFamily="18" charset="0"/>
                <a:cs typeface="Times New Roman" panose="02020603050405020304" pitchFamily="18" charset="0"/>
              </a:rPr>
              <a:t>In credit datasets, most customers are good customers, while only a small number are defaulters. If the model is trained normally, it may ignore the minority class. To solve this, higher weights are assigned to the default class. This makes the model pay more attention to risky customers during training.</a:t>
            </a:r>
            <a:endParaRPr lang="en-IN" sz="1600" b="1" dirty="0">
              <a:latin typeface="Times New Roman" panose="02020603050405020304" pitchFamily="18" charset="0"/>
              <a:cs typeface="Times New Roman" panose="02020603050405020304" pitchFamily="18" charset="0"/>
            </a:endParaRPr>
          </a:p>
          <a:p>
            <a:pPr>
              <a:lnSpc>
                <a:spcPct val="200000"/>
              </a:lnSpc>
            </a:pPr>
            <a:r>
              <a:rPr lang="en-IN" sz="1600" b="1" dirty="0">
                <a:latin typeface="Times New Roman" panose="02020603050405020304" pitchFamily="18" charset="0"/>
                <a:cs typeface="Times New Roman" panose="02020603050405020304" pitchFamily="18" charset="0"/>
              </a:rPr>
              <a:t>Step 4: Train Multiple Neural Networks</a:t>
            </a:r>
          </a:p>
          <a:p>
            <a:pPr>
              <a:lnSpc>
                <a:spcPct val="200000"/>
              </a:lnSpc>
            </a:pPr>
            <a:r>
              <a:rPr lang="en-IN" sz="1600" dirty="0">
                <a:latin typeface="Times New Roman" panose="02020603050405020304" pitchFamily="18" charset="0"/>
                <a:cs typeface="Times New Roman" panose="02020603050405020304" pitchFamily="18" charset="0"/>
              </a:rPr>
              <a:t>Instead of training only one neural network, the proposed method trains several neural networks. Each network uses a different set of class weights, so every model learns the data from a slightly different perspective</a:t>
            </a:r>
            <a:r>
              <a:rPr lang="en-IN" sz="1600" b="1"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ReLU</a:t>
            </a:r>
            <a:r>
              <a:rPr lang="en-IN" sz="1600" dirty="0">
                <a:latin typeface="Times New Roman" panose="02020603050405020304" pitchFamily="18" charset="0"/>
                <a:cs typeface="Times New Roman" panose="02020603050405020304" pitchFamily="18" charset="0"/>
              </a:rPr>
              <a:t> is used in the hidden layers to learn complex patterns. </a:t>
            </a:r>
            <a:r>
              <a:rPr lang="en-IN" sz="1600" dirty="0" err="1">
                <a:latin typeface="Times New Roman" panose="02020603050405020304" pitchFamily="18" charset="0"/>
                <a:cs typeface="Times New Roman" panose="02020603050405020304" pitchFamily="18" charset="0"/>
              </a:rPr>
              <a:t>Softmax</a:t>
            </a:r>
            <a:r>
              <a:rPr lang="en-IN" sz="1600" dirty="0">
                <a:latin typeface="Times New Roman" panose="02020603050405020304" pitchFamily="18" charset="0"/>
                <a:cs typeface="Times New Roman" panose="02020603050405020304" pitchFamily="18" charset="0"/>
              </a:rPr>
              <a:t> is used in the output layer to classify customers as either Good or Bad. The Adam Optimizer updates the network weights and reduces prediction errors. Training multiple networks with different weights creates a diverse set of models, which improves the overall prediction performance.</a:t>
            </a:r>
          </a:p>
          <a:p>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494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390720-5FBD-0DA0-6618-140A43C53F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3" name="TextBox 2">
            <a:extLst>
              <a:ext uri="{FF2B5EF4-FFF2-40B4-BE49-F238E27FC236}">
                <a16:creationId xmlns:a16="http://schemas.microsoft.com/office/drawing/2014/main" id="{F70EBE1E-A0DE-5E62-8A13-73E0ABFA3048}"/>
              </a:ext>
            </a:extLst>
          </p:cNvPr>
          <p:cNvSpPr txBox="1"/>
          <p:nvPr/>
        </p:nvSpPr>
        <p:spPr>
          <a:xfrm>
            <a:off x="1189704" y="271582"/>
            <a:ext cx="7639664" cy="6586418"/>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Step 5: Predict Customer Class</a:t>
            </a:r>
          </a:p>
          <a:p>
            <a:pPr>
              <a:lnSpc>
                <a:spcPct val="150000"/>
              </a:lnSpc>
            </a:pPr>
            <a:r>
              <a:rPr lang="en-IN" sz="1600" dirty="0">
                <a:latin typeface="Times New Roman" panose="02020603050405020304" pitchFamily="18" charset="0"/>
                <a:cs typeface="Times New Roman" panose="02020603050405020304" pitchFamily="18" charset="0"/>
              </a:rPr>
              <a:t>After training, every neural network predicts whether a customer is:</a:t>
            </a:r>
          </a:p>
          <a:p>
            <a:pPr>
              <a:lnSpc>
                <a:spcPct val="150000"/>
              </a:lnSpc>
            </a:pPr>
            <a:r>
              <a:rPr lang="en-IN" sz="1600" dirty="0">
                <a:latin typeface="Times New Roman" panose="02020603050405020304" pitchFamily="18" charset="0"/>
                <a:cs typeface="Times New Roman" panose="02020603050405020304" pitchFamily="18" charset="0"/>
              </a:rPr>
              <a:t>Good Customer – likely to repay the loan. </a:t>
            </a:r>
          </a:p>
          <a:p>
            <a:pPr>
              <a:lnSpc>
                <a:spcPct val="150000"/>
              </a:lnSpc>
            </a:pPr>
            <a:r>
              <a:rPr lang="en-IN" sz="1600" dirty="0">
                <a:latin typeface="Times New Roman" panose="02020603050405020304" pitchFamily="18" charset="0"/>
                <a:cs typeface="Times New Roman" panose="02020603050405020304" pitchFamily="18" charset="0"/>
              </a:rPr>
              <a:t>Bad Customer  – likely to fail to repay the loan. </a:t>
            </a:r>
          </a:p>
          <a:p>
            <a:pPr>
              <a:lnSpc>
                <a:spcPct val="150000"/>
              </a:lnSpc>
            </a:pPr>
            <a:r>
              <a:rPr lang="en-IN" sz="1600" b="1" dirty="0">
                <a:latin typeface="Times New Roman" panose="02020603050405020304" pitchFamily="18" charset="0"/>
                <a:cs typeface="Times New Roman" panose="02020603050405020304" pitchFamily="18" charset="0"/>
              </a:rPr>
              <a:t>Step 6: Majority Voting</a:t>
            </a:r>
          </a:p>
          <a:p>
            <a:pPr>
              <a:lnSpc>
                <a:spcPct val="150000"/>
              </a:lnSpc>
            </a:pPr>
            <a:r>
              <a:rPr lang="en-IN" sz="1600" dirty="0">
                <a:latin typeface="Times New Roman" panose="02020603050405020304" pitchFamily="18" charset="0"/>
                <a:cs typeface="Times New Roman" panose="02020603050405020304" pitchFamily="18" charset="0"/>
              </a:rPr>
              <a:t>The predictions from all neural networks are collected. The final decision is made using majority voting. For example, if 7 out of 9 neural networks predict that the customer is a good customer, the final output will be Good Customer. This makes the prediction more reliable than using only a single neural network.</a:t>
            </a:r>
          </a:p>
          <a:p>
            <a:pPr>
              <a:lnSpc>
                <a:spcPct val="150000"/>
              </a:lnSpc>
            </a:pPr>
            <a:r>
              <a:rPr lang="en-IN" sz="1600" b="1" dirty="0">
                <a:latin typeface="Times New Roman" panose="02020603050405020304" pitchFamily="18" charset="0"/>
                <a:cs typeface="Times New Roman" panose="02020603050405020304" pitchFamily="18" charset="0"/>
              </a:rPr>
              <a:t>Step 7: Evaluate the Model</a:t>
            </a:r>
          </a:p>
          <a:p>
            <a:pPr>
              <a:lnSpc>
                <a:spcPct val="150000"/>
              </a:lnSpc>
            </a:pPr>
            <a:r>
              <a:rPr lang="en-IN" sz="1600" dirty="0">
                <a:latin typeface="Times New Roman" panose="02020603050405020304" pitchFamily="18" charset="0"/>
                <a:cs typeface="Times New Roman" panose="02020603050405020304" pitchFamily="18" charset="0"/>
              </a:rPr>
              <a:t>The models performance is measured using:</a:t>
            </a:r>
          </a:p>
          <a:p>
            <a:pPr>
              <a:lnSpc>
                <a:spcPct val="150000"/>
              </a:lnSpc>
            </a:pPr>
            <a:r>
              <a:rPr lang="en-IN" sz="1600" dirty="0">
                <a:latin typeface="Times New Roman" panose="02020603050405020304" pitchFamily="18" charset="0"/>
                <a:cs typeface="Times New Roman" panose="02020603050405020304" pitchFamily="18" charset="0"/>
              </a:rPr>
              <a:t>Accuracy – Overall prediction correctness. </a:t>
            </a:r>
          </a:p>
          <a:p>
            <a:pPr>
              <a:lnSpc>
                <a:spcPct val="150000"/>
              </a:lnSpc>
            </a:pPr>
            <a:r>
              <a:rPr lang="en-IN" sz="1600" dirty="0">
                <a:latin typeface="Times New Roman" panose="02020603050405020304" pitchFamily="18" charset="0"/>
                <a:cs typeface="Times New Roman" panose="02020603050405020304" pitchFamily="18" charset="0"/>
              </a:rPr>
              <a:t>AUC – Ability to distinguish good and bad customers. </a:t>
            </a:r>
          </a:p>
          <a:p>
            <a:pPr>
              <a:lnSpc>
                <a:spcPct val="150000"/>
              </a:lnSpc>
            </a:pPr>
            <a:r>
              <a:rPr lang="en-IN" sz="1600" dirty="0">
                <a:latin typeface="Times New Roman" panose="02020603050405020304" pitchFamily="18" charset="0"/>
                <a:cs typeface="Times New Roman" panose="02020603050405020304" pitchFamily="18" charset="0"/>
              </a:rPr>
              <a:t>Default Detection Rate (DDR) – Percentage of defaulters correctly identified. </a:t>
            </a:r>
          </a:p>
          <a:p>
            <a:pPr>
              <a:lnSpc>
                <a:spcPct val="150000"/>
              </a:lnSpc>
            </a:pPr>
            <a:r>
              <a:rPr lang="en-IN" sz="1600" dirty="0">
                <a:latin typeface="Times New Roman" panose="02020603050405020304" pitchFamily="18" charset="0"/>
                <a:cs typeface="Times New Roman" panose="02020603050405020304" pitchFamily="18" charset="0"/>
              </a:rPr>
              <a:t>Specificity – Percentage of good customers correctly identified. </a:t>
            </a:r>
          </a:p>
          <a:p>
            <a:pPr>
              <a:lnSpc>
                <a:spcPct val="150000"/>
              </a:lnSpc>
            </a:pPr>
            <a:r>
              <a:rPr lang="en-IN" sz="1600" dirty="0">
                <a:latin typeface="Times New Roman" panose="02020603050405020304" pitchFamily="18" charset="0"/>
                <a:cs typeface="Times New Roman" panose="02020603050405020304" pitchFamily="18" charset="0"/>
              </a:rPr>
              <a:t>G-Mean – Balance between detecting good and bad customers. </a:t>
            </a:r>
          </a:p>
          <a:p>
            <a:pPr>
              <a:lnSpc>
                <a:spcPct val="150000"/>
              </a:lnSpc>
            </a:pPr>
            <a:r>
              <a:rPr lang="en-IN" sz="1600" dirty="0">
                <a:latin typeface="Times New Roman" panose="02020603050405020304" pitchFamily="18" charset="0"/>
                <a:cs typeface="Times New Roman" panose="02020603050405020304" pitchFamily="18" charset="0"/>
              </a:rPr>
              <a:t>Misclassification Cost (MC) – Measures the financial loss caused by wrong predictions.</a:t>
            </a:r>
          </a:p>
          <a:p>
            <a:endParaRPr lang="en-IN" dirty="0"/>
          </a:p>
        </p:txBody>
      </p:sp>
    </p:spTree>
    <p:extLst>
      <p:ext uri="{BB962C8B-B14F-4D97-AF65-F5344CB8AC3E}">
        <p14:creationId xmlns:p14="http://schemas.microsoft.com/office/powerpoint/2010/main" val="1001630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2941964" y="577815"/>
            <a:ext cx="4961783"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Research Gap</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9</a:t>
            </a:fld>
            <a:endParaRPr dirty="0"/>
          </a:p>
        </p:txBody>
      </p:sp>
      <p:sp>
        <p:nvSpPr>
          <p:cNvPr id="5" name="Rectangle 1">
            <a:extLst>
              <a:ext uri="{FF2B5EF4-FFF2-40B4-BE49-F238E27FC236}">
                <a16:creationId xmlns:a16="http://schemas.microsoft.com/office/drawing/2014/main" id="{DFE50B3E-8164-E04E-8E32-3BC41866D80E}"/>
              </a:ext>
            </a:extLst>
          </p:cNvPr>
          <p:cNvSpPr>
            <a:spLocks noChangeArrowheads="1"/>
          </p:cNvSpPr>
          <p:nvPr/>
        </p:nvSpPr>
        <p:spPr bwMode="auto">
          <a:xfrm>
            <a:off x="871832" y="1467907"/>
            <a:ext cx="8401377" cy="374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Existing credit risk models mainly focus on basic financial ratios and historical data, but they fail to capture complex relationships between borrowers, market conditions, and hidden risk patterns.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Most studies emphasize prediction accuracy only, rather than providing a decision-support system that helps banks make better lending decisions such as safe loan amount, risk level, or EMI suggestions.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Traditional models do not adequately handle non-linear and interconnected financial dependencies</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which are common in real-world  environments, leading to limited reliability in default prediction.</a:t>
            </a: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364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399163" y="215003"/>
            <a:ext cx="3098259"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O</a:t>
            </a:r>
            <a:r>
              <a:rPr lang="en-IN" dirty="0">
                <a:solidFill>
                  <a:srgbClr val="FF0000"/>
                </a:solidFill>
              </a:rPr>
              <a:t>bjectives</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10</a:t>
            </a:fld>
            <a:endParaRPr dirty="0"/>
          </a:p>
        </p:txBody>
      </p:sp>
      <p:sp>
        <p:nvSpPr>
          <p:cNvPr id="4" name="Google Shape;53;p1"/>
          <p:cNvSpPr txBox="1">
            <a:spLocks noGrp="1"/>
          </p:cNvSpPr>
          <p:nvPr>
            <p:ph type="body" idx="1"/>
          </p:nvPr>
        </p:nvSpPr>
        <p:spPr>
          <a:xfrm>
            <a:off x="1517710" y="1203609"/>
            <a:ext cx="8563183" cy="978463"/>
          </a:xfrm>
          <a:prstGeom prst="rect">
            <a:avLst/>
          </a:prstGeom>
          <a:noFill/>
          <a:ln>
            <a:noFill/>
          </a:ln>
        </p:spPr>
        <p:txBody>
          <a:bodyPr spcFirstLastPara="1" wrap="square" lIns="0" tIns="54600" rIns="0" bIns="0" anchor="t" anchorCtr="0">
            <a:spAutoFit/>
          </a:bodyPr>
          <a:lstStyle/>
          <a:p>
            <a:endParaRPr lang="en-IN" b="0" dirty="0"/>
          </a:p>
          <a:p>
            <a:pPr marL="228600" indent="0"/>
            <a:endParaRPr lang="en-IN" b="0" dirty="0"/>
          </a:p>
          <a:p>
            <a:pPr marL="228600" indent="0"/>
            <a:endParaRPr lang="en-IN" b="0" dirty="0"/>
          </a:p>
        </p:txBody>
      </p:sp>
      <p:sp>
        <p:nvSpPr>
          <p:cNvPr id="3" name="Rectangle 2">
            <a:extLst>
              <a:ext uri="{FF2B5EF4-FFF2-40B4-BE49-F238E27FC236}">
                <a16:creationId xmlns:a16="http://schemas.microsoft.com/office/drawing/2014/main" id="{53036DB2-984A-52B7-B53C-55768F1C7C78}"/>
              </a:ext>
            </a:extLst>
          </p:cNvPr>
          <p:cNvSpPr>
            <a:spLocks noChangeArrowheads="1"/>
          </p:cNvSpPr>
          <p:nvPr/>
        </p:nvSpPr>
        <p:spPr bwMode="auto">
          <a:xfrm>
            <a:off x="835742" y="1373629"/>
            <a:ext cx="7851058" cy="4110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600" b="1" dirty="0">
                <a:latin typeface="Times New Roman" panose="02020603050405020304" pitchFamily="18" charset="0"/>
                <a:cs typeface="Times New Roman" panose="02020603050405020304" pitchFamily="18" charset="0"/>
              </a:rPr>
              <a:t>Primary Objective:</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an interpretable machine learning model for predicting loan default risk of customers.</a:t>
            </a:r>
          </a:p>
          <a:p>
            <a:pPr>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Specific Objectives:</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Collect and preprocess loan and customer financial datasets.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Train machine learning models such as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for credit risk classification.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model performance using evaluation metrics like accuracy, precision, recall, and F1-score.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Explain model predictions using SHAP for better interpretability of loan decisions.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user-friendly interface to predict loan approval and risk level in real-time.</a:t>
            </a:r>
          </a:p>
        </p:txBody>
      </p:sp>
    </p:spTree>
    <p:extLst>
      <p:ext uri="{BB962C8B-B14F-4D97-AF65-F5344CB8AC3E}">
        <p14:creationId xmlns:p14="http://schemas.microsoft.com/office/powerpoint/2010/main" val="208455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682438" y="397052"/>
            <a:ext cx="1779124"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 N</a:t>
            </a:r>
            <a:r>
              <a:rPr lang="en-IN" dirty="0">
                <a:solidFill>
                  <a:srgbClr val="FF0000"/>
                </a:solidFill>
              </a:rPr>
              <a:t>ovelty</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11</a:t>
            </a:fld>
            <a:endParaRPr dirty="0"/>
          </a:p>
        </p:txBody>
      </p:sp>
      <p:sp>
        <p:nvSpPr>
          <p:cNvPr id="4" name="TextBox 3">
            <a:extLst>
              <a:ext uri="{FF2B5EF4-FFF2-40B4-BE49-F238E27FC236}">
                <a16:creationId xmlns:a16="http://schemas.microsoft.com/office/drawing/2014/main" id="{B6359565-91CB-3A74-9047-C337B83FED6A}"/>
              </a:ext>
            </a:extLst>
          </p:cNvPr>
          <p:cNvSpPr txBox="1"/>
          <p:nvPr/>
        </p:nvSpPr>
        <p:spPr>
          <a:xfrm>
            <a:off x="1310450" y="1701010"/>
            <a:ext cx="7176072" cy="33720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machine learning model to predict loan default risk of customers.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SHAP to explain model decisions and identify important risk factors.</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Build a system to recommend loan eligibility and suitable loan amount.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customer financial data such as income, credit score, and repayment history for risk assessment.</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Create a real-time web application for instant loan prediction and decision-making. </a:t>
            </a: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Provide multi-criteria decision support considering risk level, affordability, and loan conditions.</a:t>
            </a:r>
          </a:p>
        </p:txBody>
      </p:sp>
    </p:spTree>
    <p:extLst>
      <p:ext uri="{BB962C8B-B14F-4D97-AF65-F5344CB8AC3E}">
        <p14:creationId xmlns:p14="http://schemas.microsoft.com/office/powerpoint/2010/main" val="3460137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899767" y="302104"/>
            <a:ext cx="2824323"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M</a:t>
            </a:r>
            <a:r>
              <a:rPr lang="en-IN" dirty="0">
                <a:solidFill>
                  <a:srgbClr val="FF0000"/>
                </a:solidFill>
              </a:rPr>
              <a:t>ethodology</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12</a:t>
            </a:fld>
            <a:endParaRPr dirty="0"/>
          </a:p>
        </p:txBody>
      </p:sp>
      <p:sp>
        <p:nvSpPr>
          <p:cNvPr id="4" name="Google Shape;53;p1"/>
          <p:cNvSpPr txBox="1">
            <a:spLocks noGrp="1"/>
          </p:cNvSpPr>
          <p:nvPr>
            <p:ph type="body" idx="1"/>
          </p:nvPr>
        </p:nvSpPr>
        <p:spPr>
          <a:xfrm>
            <a:off x="2310857" y="1141876"/>
            <a:ext cx="6375943" cy="4764115"/>
          </a:xfrm>
          <a:prstGeom prst="rect">
            <a:avLst/>
          </a:prstGeom>
          <a:noFill/>
          <a:ln>
            <a:noFill/>
          </a:ln>
        </p:spPr>
        <p:txBody>
          <a:bodyPr spcFirstLastPara="1" wrap="square" lIns="0" tIns="54600" rIns="0" bIns="0" anchor="t" anchorCtr="0">
            <a:spAutoFit/>
          </a:bodyPr>
          <a:lstStyle/>
          <a:p>
            <a:pPr marL="228600" indent="0"/>
            <a:r>
              <a:rPr lang="en-IN" sz="1800" b="0" dirty="0"/>
              <a:t>Loan Dataset</a:t>
            </a:r>
            <a:br>
              <a:rPr lang="en-IN" sz="1800" b="0" dirty="0"/>
            </a:br>
            <a:r>
              <a:rPr lang="en-IN" sz="1800" b="0" dirty="0"/>
              <a:t>↓ </a:t>
            </a:r>
            <a:br>
              <a:rPr lang="en-IN" sz="1800" b="0" dirty="0"/>
            </a:br>
            <a:r>
              <a:rPr lang="en-IN" sz="1800" b="0" dirty="0"/>
              <a:t>Date of the Preprocessing</a:t>
            </a:r>
            <a:br>
              <a:rPr lang="en-IN" sz="1800" b="0" dirty="0"/>
            </a:br>
            <a:r>
              <a:rPr lang="en-IN" sz="1800" b="0" dirty="0"/>
              <a:t>↓</a:t>
            </a:r>
            <a:br>
              <a:rPr lang="en-IN" sz="1800" b="0" dirty="0"/>
            </a:br>
            <a:r>
              <a:rPr lang="en-IN" sz="1800" b="0" dirty="0"/>
              <a:t>Feature credit score, income ratio, debt ratio, repayment history</a:t>
            </a:r>
            <a:br>
              <a:rPr lang="en-IN" sz="1800" b="0" dirty="0"/>
            </a:br>
            <a:r>
              <a:rPr lang="en-IN" sz="1800" b="0" dirty="0"/>
              <a:t>↓ </a:t>
            </a:r>
            <a:br>
              <a:rPr lang="en-IN" sz="1800" b="0" dirty="0"/>
            </a:br>
            <a:r>
              <a:rPr lang="en-IN" sz="1800" b="0" dirty="0"/>
              <a:t>XGBoost Model Training</a:t>
            </a:r>
            <a:br>
              <a:rPr lang="en-IN" sz="1800" b="0" dirty="0"/>
            </a:br>
            <a:r>
              <a:rPr lang="en-IN" sz="1800" b="0" dirty="0"/>
              <a:t>↓</a:t>
            </a:r>
            <a:br>
              <a:rPr lang="en-IN" sz="1800" b="0" dirty="0"/>
            </a:br>
            <a:r>
              <a:rPr lang="en-IN" sz="1800" b="0" dirty="0"/>
              <a:t>Loan Default Risk Prediction</a:t>
            </a:r>
            <a:br>
              <a:rPr lang="en-IN" sz="1800" b="0" dirty="0"/>
            </a:br>
            <a:r>
              <a:rPr lang="en-IN" sz="1800" b="0" dirty="0"/>
              <a:t>↓</a:t>
            </a:r>
            <a:br>
              <a:rPr lang="en-IN" sz="1800" b="0" dirty="0"/>
            </a:br>
            <a:r>
              <a:rPr lang="en-IN" sz="1800" b="0" dirty="0"/>
              <a:t>SHAP Explainability Analysis</a:t>
            </a:r>
            <a:br>
              <a:rPr lang="en-IN" sz="1800" b="0" dirty="0"/>
            </a:br>
            <a:r>
              <a:rPr lang="en-IN" sz="1800" b="0" dirty="0"/>
              <a:t>↓</a:t>
            </a:r>
            <a:br>
              <a:rPr lang="en-IN" sz="1800" b="0" dirty="0"/>
            </a:br>
            <a:r>
              <a:rPr lang="en-IN" sz="1800" b="0" dirty="0"/>
              <a:t>Risk Interpretation</a:t>
            </a:r>
            <a:br>
              <a:rPr lang="en-IN" sz="1800" b="0" dirty="0"/>
            </a:br>
            <a:r>
              <a:rPr lang="en-IN" sz="1800" b="0" dirty="0"/>
              <a:t>↓</a:t>
            </a:r>
            <a:br>
              <a:rPr lang="en-IN" sz="1800" b="0" dirty="0"/>
            </a:br>
            <a:r>
              <a:rPr lang="en-IN" sz="1800" b="0" dirty="0"/>
              <a:t>Loan Amount &amp; Eligibility Recommendation</a:t>
            </a:r>
            <a:br>
              <a:rPr lang="en-IN" sz="1800" b="0" dirty="0"/>
            </a:br>
            <a:r>
              <a:rPr lang="en-IN" sz="1800" b="0" dirty="0"/>
              <a:t>↓</a:t>
            </a:r>
            <a:br>
              <a:rPr lang="en-IN" sz="1800" b="0" dirty="0"/>
            </a:br>
            <a:r>
              <a:rPr lang="en-IN" sz="1800" b="0" dirty="0"/>
              <a:t>Performance Evaluation -Accuracy, Precision, Recall, F1-score</a:t>
            </a:r>
          </a:p>
        </p:txBody>
      </p:sp>
    </p:spTree>
    <p:extLst>
      <p:ext uri="{BB962C8B-B14F-4D97-AF65-F5344CB8AC3E}">
        <p14:creationId xmlns:p14="http://schemas.microsoft.com/office/powerpoint/2010/main" val="1678992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318284" y="685379"/>
            <a:ext cx="4200295" cy="711461"/>
          </a:xfrm>
          <a:prstGeom prst="rect">
            <a:avLst/>
          </a:prstGeom>
          <a:noFill/>
          <a:ln>
            <a:noFill/>
          </a:ln>
        </p:spPr>
        <p:txBody>
          <a:bodyPr spcFirstLastPara="1" wrap="square" lIns="0" tIns="216900" rIns="0" bIns="0" anchor="t" anchorCtr="0">
            <a:spAutoFit/>
          </a:bodyPr>
          <a:lstStyle/>
          <a:p>
            <a:pPr marL="12700" lvl="0"/>
            <a:r>
              <a:rPr lang="en-GB" dirty="0">
                <a:solidFill>
                  <a:srgbClr val="FF0000"/>
                </a:solidFill>
              </a:rPr>
              <a:t>E</a:t>
            </a:r>
            <a:r>
              <a:rPr lang="en-IN" dirty="0">
                <a:solidFill>
                  <a:srgbClr val="FF0000"/>
                </a:solidFill>
              </a:rPr>
              <a:t>xpected Outcome</a:t>
            </a:r>
            <a:endParaRPr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13</a:t>
            </a:fld>
            <a:endParaRPr dirty="0"/>
          </a:p>
        </p:txBody>
      </p:sp>
      <p:sp>
        <p:nvSpPr>
          <p:cNvPr id="2" name="Rectangle 1">
            <a:extLst>
              <a:ext uri="{FF2B5EF4-FFF2-40B4-BE49-F238E27FC236}">
                <a16:creationId xmlns:a16="http://schemas.microsoft.com/office/drawing/2014/main" id="{C063EDBA-6E2C-89E2-F0F3-2AC9C65E951C}"/>
              </a:ext>
            </a:extLst>
          </p:cNvPr>
          <p:cNvSpPr>
            <a:spLocks noChangeArrowheads="1"/>
          </p:cNvSpPr>
          <p:nvPr/>
        </p:nvSpPr>
        <p:spPr bwMode="auto">
          <a:xfrm>
            <a:off x="1473880" y="1921815"/>
            <a:ext cx="7070351" cy="2633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Accurate prediction of loan default risk.</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Reduced dependency on manual credit evaluation processes. </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Faster decision-making for banks and financial institutions. Better loan eligibility and amount recommendations. Reduced financial risk and loan loss for lenders. </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User-friendly dashboard for customers and bank officers. Improved financial planning and credit resource utilization</a:t>
            </a:r>
            <a:r>
              <a:rPr lang="en-IN" sz="1600" dirty="0"/>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355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672059" y="2717539"/>
            <a:ext cx="5158553" cy="711461"/>
          </a:xfrm>
          <a:prstGeom prst="rect">
            <a:avLst/>
          </a:prstGeom>
          <a:noFill/>
          <a:ln>
            <a:noFill/>
          </a:ln>
        </p:spPr>
        <p:txBody>
          <a:bodyPr spcFirstLastPara="1" wrap="square" lIns="0" tIns="216900" rIns="0" bIns="0" anchor="t" anchorCtr="0">
            <a:spAutoFit/>
          </a:bodyPr>
          <a:lstStyle/>
          <a:p>
            <a:pPr marL="12700" lvl="0"/>
            <a:r>
              <a:rPr lang="en-IN" spc="-40" dirty="0"/>
              <a:t>THANK</a:t>
            </a:r>
            <a:r>
              <a:rPr lang="en-IN" spc="-190" dirty="0"/>
              <a:t> </a:t>
            </a:r>
            <a:r>
              <a:rPr lang="en-IN" spc="-20" dirty="0"/>
              <a:t>YOU</a:t>
            </a:r>
            <a:endParaRPr sz="3600" dirty="0">
              <a:solidFill>
                <a:srgbClr val="FF0000"/>
              </a:solidFill>
            </a:endParaRPr>
          </a:p>
        </p:txBody>
      </p:sp>
      <p:sp>
        <p:nvSpPr>
          <p:cNvPr id="64" name="Google Shape;64;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14</a:t>
            </a:fld>
            <a:endParaRPr dirty="0"/>
          </a:p>
        </p:txBody>
      </p:sp>
    </p:spTree>
    <p:extLst>
      <p:ext uri="{BB962C8B-B14F-4D97-AF65-F5344CB8AC3E}">
        <p14:creationId xmlns:p14="http://schemas.microsoft.com/office/powerpoint/2010/main" val="63490958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649</TotalTime>
  <Words>1313</Words>
  <Application>Microsoft Office PowerPoint</Application>
  <PresentationFormat>On-screen Show (4:3)</PresentationFormat>
  <Paragraphs>123</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Machine Learning-Based Credit Risk Prediction with Safe Loan Amount and EMI Recommendation</vt:lpstr>
      <vt:lpstr>Problem Statement </vt:lpstr>
      <vt:lpstr>Literature Survey</vt:lpstr>
      <vt:lpstr>Base Paper Selection</vt:lpstr>
      <vt:lpstr>PowerPoint Presentation</vt:lpstr>
      <vt:lpstr>PowerPoint Presentation</vt:lpstr>
      <vt:lpstr>PowerPoint Presentation</vt:lpstr>
      <vt:lpstr>PowerPoint Presentation</vt:lpstr>
      <vt:lpstr>Research Gap</vt:lpstr>
      <vt:lpstr>Objectives</vt:lpstr>
      <vt:lpstr> Novelty</vt:lpstr>
      <vt:lpstr>Methodology</vt:lpstr>
      <vt:lpstr>Expected Outcome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Deployment of E-Commerce Web Application using Jenkins and Kubernetes</dc:title>
  <dc:creator>Bhobesh adhithiyan</dc:creator>
  <cp:lastModifiedBy>DIVYA PRASANTH</cp:lastModifiedBy>
  <cp:revision>53</cp:revision>
  <dcterms:created xsi:type="dcterms:W3CDTF">2025-02-28T03:17:42Z</dcterms:created>
  <dcterms:modified xsi:type="dcterms:W3CDTF">2026-07-14T14:58:11Z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2025-02-28T00:00:00Z</vt:filetime>
  </property>
  <property fmtid="{D5CDD505-2E9C-101B-9397-08002B2CF9AE}" pid="3" name="Creator">
    <vt:lpwstr>Microsoft® PowerPoint® 2021</vt:lpwstr>
  </property>
  <property fmtid="{D5CDD505-2E9C-101B-9397-08002B2CF9AE}" pid="4" name="LastSaved">
    <vt:filetime>2025-02-28T00:00:00Z</vt:filetime>
  </property>
  <property fmtid="{D5CDD505-2E9C-101B-9397-08002B2CF9AE}" pid="5" name="Producer">
    <vt:lpwstr>Microsoft® PowerPoint® 2021</vt:lpwstr>
  </property>
</Properties>
</file>