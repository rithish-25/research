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58" r:id="rId5"/>
    <p:sldId id="271" r:id="rId6"/>
    <p:sldId id="262" r:id="rId7"/>
    <p:sldId id="264" r:id="rId8"/>
    <p:sldId id="272" r:id="rId9"/>
    <p:sldId id="273" r:id="rId10"/>
    <p:sldId id="274" r:id="rId11"/>
    <p:sldId id="259" r:id="rId12"/>
    <p:sldId id="260" r:id="rId13"/>
    <p:sldId id="276" r:id="rId14"/>
    <p:sldId id="280" r:id="rId15"/>
    <p:sldId id="277" r:id="rId16"/>
    <p:sldId id="279" r:id="rId17"/>
    <p:sldId id="275" r:id="rId18"/>
    <p:sldId id="269" r:id="rId19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0933E87-5C11-3150-3F05-8896B893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0E1B26B-17EA-AD8E-7121-C44CBAE90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BA26095-9FCE-F6DB-A302-A38E89D9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811411" y="1249992"/>
            <a:ext cx="6312310" cy="1490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br>
              <a:rPr lang="en-GB" sz="2400" dirty="0"/>
            </a:br>
            <a:r>
              <a:rPr lang="en-GB" sz="2400" dirty="0"/>
              <a:t>Machine Learning-Based Credit Risk Prediction with Safe Loan Amount and EMI Recommendation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699273" y="3027830"/>
            <a:ext cx="5257801" cy="217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NAVEEN SRINIVAS </a:t>
            </a:r>
            <a:r>
              <a:rPr lang="en-US" sz="1800" b="0" dirty="0">
                <a:latin typeface="Times New Roman"/>
                <a:ea typeface="Times New Roman"/>
                <a:cs typeface="Times New Roman"/>
                <a:sym typeface="Times New Roman"/>
              </a:rPr>
              <a:t>V(23CSR145) </a:t>
            </a: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MENAHA R(23CSR130)</a:t>
            </a:r>
          </a:p>
          <a:p>
            <a:pPr marL="688975" marR="618490" indent="-65405">
              <a:lnSpc>
                <a:spcPct val="150000"/>
              </a:lnSpc>
            </a:pPr>
            <a:r>
              <a:rPr lang="en-US" sz="1800" b="0" dirty="0"/>
              <a:t>RITHISH R (23CSR178)</a:t>
            </a: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48713" y="5708177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Date:20.07.2026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7438F-A02F-A33E-C1CD-C6EBF6DAF889}"/>
              </a:ext>
            </a:extLst>
          </p:cNvPr>
          <p:cNvSpPr txBox="1"/>
          <p:nvPr/>
        </p:nvSpPr>
        <p:spPr>
          <a:xfrm>
            <a:off x="5270090" y="4913193"/>
            <a:ext cx="3676650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 GEETHA (Associate Professor)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9D430-CAF0-24B9-D35E-C967BAEF712F}"/>
              </a:ext>
            </a:extLst>
          </p:cNvPr>
          <p:cNvSpPr txBox="1"/>
          <p:nvPr/>
        </p:nvSpPr>
        <p:spPr>
          <a:xfrm>
            <a:off x="3451124" y="384015"/>
            <a:ext cx="567259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22CSP72-PROJECT WORK II PHASE II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31464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621189"/>
            <a:ext cx="7715945" cy="33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Existing Problem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Banks use manual checking or simple rules to evaluate loan applications.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This process takes more time and can lead to incorrect decisions.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 Risky customers may be approved, while eligible customers may be rejected.</a:t>
            </a:r>
          </a:p>
          <a:p>
            <a:pPr marL="228600" indent="0">
              <a:lnSpc>
                <a:spcPct val="150000"/>
              </a:lnSpc>
            </a:pPr>
            <a:r>
              <a:rPr lang="en-GB" sz="1800" dirty="0"/>
              <a:t>Proposed Solution: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Use Machine Learning to classify customers as Safe or Risky.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Generate a Risk Score and recommend a suitable Loan Amount and EMI.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Provide clear reasons for the prediction to support accurate loan decisions.</a:t>
            </a:r>
            <a:endParaRPr lang="en-GB" sz="18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566102" y="480063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517710" y="1203609"/>
            <a:ext cx="8563183" cy="97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endParaRPr lang="en-IN" b="0" dirty="0"/>
          </a:p>
          <a:p>
            <a:pPr marL="228600" indent="0"/>
            <a:endParaRPr lang="en-IN" b="0" dirty="0"/>
          </a:p>
          <a:p>
            <a:pPr marL="228600" indent="0"/>
            <a:endParaRPr lang="en-IN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74" y="1852699"/>
            <a:ext cx="7851058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Machine Learning model to predict customer loan default risk.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loan and customer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Random Forest model and XG Boost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using evaluation metrics.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interface for loan risk prediction.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06641" y="137160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0019"/>
              </p:ext>
            </p:extLst>
          </p:nvPr>
        </p:nvGraphicFramePr>
        <p:xfrm>
          <a:off x="853588" y="1236674"/>
          <a:ext cx="8010940" cy="5312716"/>
        </p:xfrm>
        <a:graphic>
          <a:graphicData uri="http://schemas.openxmlformats.org/drawingml/2006/table">
            <a:tbl>
              <a:tblPr/>
              <a:tblGrid>
                <a:gridCol w="2002735">
                  <a:extLst>
                    <a:ext uri="{9D8B030D-6E8A-4147-A177-3AD203B41FA5}">
                      <a16:colId xmlns:a16="http://schemas.microsoft.com/office/drawing/2014/main" val="403370833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2857893920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4228705305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1109122155"/>
                    </a:ext>
                  </a:extLst>
                </a:gridCol>
              </a:tblGrid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&amp; Year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79279"/>
                  </a:ext>
                </a:extLst>
              </a:tr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ML-Based Credit Scoring Models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Regression, Random Forest, </a:t>
                      </a: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85–92%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395469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Credit Risk Prediction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 Vector Machine,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AUC 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loan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5552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Explainable AI for Loan Approval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XGBoost, SHAP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90%+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real-time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76091"/>
                  </a:ext>
                </a:extLst>
              </a:tr>
              <a:tr h="102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Banking Risk Analysis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Regression, Neural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87–91%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EMI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30787"/>
                  </a:ext>
                </a:extLst>
              </a:tr>
              <a:tr h="888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Hybrid Loan Default Prediction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, SHAP, Topological 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 0.973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to maritime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18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232D14E-EE81-BEA8-21C1-542F5DEC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F82B9DD-BD01-BE97-517F-749705D9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442" y="184527"/>
            <a:ext cx="4187162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dirty="0">
                <a:solidFill>
                  <a:srgbClr val="FF0000"/>
                </a:solidFill>
              </a:rPr>
              <a:t>Base Paper Selection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741D38C7-9908-094D-C848-9BA085FD1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861B0-D818-95CF-EE90-A6590BB61962}"/>
              </a:ext>
            </a:extLst>
          </p:cNvPr>
          <p:cNvSpPr txBox="1"/>
          <p:nvPr/>
        </p:nvSpPr>
        <p:spPr>
          <a:xfrm>
            <a:off x="692951" y="1113294"/>
            <a:ext cx="8272144" cy="5264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Novel Hybrid Model for Loan Default Prediction in Maritime Finance Based on Topological Data Analysis and Machine Learning.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 + TDA (Topological Data Analysis)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ROC-AUC = 0.973 (very high performance)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IEEE publication (2025).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Machine Learning with TDA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SHAP for explainable predictions.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 prediction accuracy.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ideas for improving credit risk prediction systems.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85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86093" y="590799"/>
            <a:ext cx="496178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Research Gap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503" y="1363815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only predict whether a customer will repay the loan or not.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recommend a suitable loan amount or EMI based on the customer's financial condition.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models focus only on improving accuracy and provide limited explanation for their predictions.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user-friendly system that combines risk prediction, risk score, loan recommendation, and explainable results in one platform.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997070" y="446213"/>
            <a:ext cx="177912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N</a:t>
            </a:r>
            <a:r>
              <a:rPr lang="en-IN" sz="3600" dirty="0" err="1">
                <a:solidFill>
                  <a:srgbClr val="FF0000"/>
                </a:solidFill>
              </a:rPr>
              <a:t>ovelty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59565-91CB-3A74-9047-C337B83FED6A}"/>
              </a:ext>
            </a:extLst>
          </p:cNvPr>
          <p:cNvSpPr txBox="1"/>
          <p:nvPr/>
        </p:nvSpPr>
        <p:spPr>
          <a:xfrm>
            <a:off x="1510728" y="1573190"/>
            <a:ext cx="7176072" cy="295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Novel Contributions: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Generation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Amount Recommendation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Recommendation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C1CC8-AFDC-0649-6EA4-8BA5A7D5B3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9E12A-55F9-F69A-CF92-6CF8A642BB2F}"/>
              </a:ext>
            </a:extLst>
          </p:cNvPr>
          <p:cNvSpPr txBox="1"/>
          <p:nvPr/>
        </p:nvSpPr>
        <p:spPr>
          <a:xfrm>
            <a:off x="2851354" y="372149"/>
            <a:ext cx="494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48B70-D868-66F7-CE27-4158C36F02B1}"/>
              </a:ext>
            </a:extLst>
          </p:cNvPr>
          <p:cNvSpPr txBox="1"/>
          <p:nvPr/>
        </p:nvSpPr>
        <p:spPr>
          <a:xfrm>
            <a:off x="845575" y="1297858"/>
            <a:ext cx="7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Credit Risk Prediction System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278CAE-8866-9133-A9E0-CEEC20D7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2036691"/>
            <a:ext cx="8150943" cy="400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0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7EE3C-CB3B-647E-8AFD-E8580E976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BC06E-B8F5-40D8-A196-220C9DE03069}"/>
              </a:ext>
            </a:extLst>
          </p:cNvPr>
          <p:cNvSpPr txBox="1"/>
          <p:nvPr/>
        </p:nvSpPr>
        <p:spPr>
          <a:xfrm>
            <a:off x="1877960" y="612830"/>
            <a:ext cx="10078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roposed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 with Planned Innovation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569BF-740B-53A3-5577-923D98A2B35F}"/>
              </a:ext>
            </a:extLst>
          </p:cNvPr>
          <p:cNvSpPr txBox="1"/>
          <p:nvPr/>
        </p:nvSpPr>
        <p:spPr>
          <a:xfrm>
            <a:off x="1297858" y="1524000"/>
            <a:ext cx="6764594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  <a:p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 for transparent loan decisions.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Score prediction using Machine Learning.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Loan Amount recommendation based on customer profile.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EMI recommendation based on affordability.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Loan Prediction through a web application.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Support considering risk, eligibility, and affordability.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ML Models to select the best-performing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for improved prediction accuracy.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81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C35DE-C97A-898F-F072-CD519FC8A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320C3-F531-BBAB-7C8C-3287CDF759DB}"/>
              </a:ext>
            </a:extLst>
          </p:cNvPr>
          <p:cNvSpPr txBox="1"/>
          <p:nvPr/>
        </p:nvSpPr>
        <p:spPr>
          <a:xfrm>
            <a:off x="2713703" y="563416"/>
            <a:ext cx="5338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15D1-0275-1AAD-757B-DD1FFA12AE48}"/>
              </a:ext>
            </a:extLst>
          </p:cNvPr>
          <p:cNvSpPr txBox="1"/>
          <p:nvPr/>
        </p:nvSpPr>
        <p:spPr>
          <a:xfrm>
            <a:off x="1307690" y="1484671"/>
            <a:ext cx="6322142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Dataset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Feature Engineering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Machine Learning Model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Credit Risk Prediction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SHAP Explainability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Loan Amount &amp; EMI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Web Application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Performance Evaluation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10 – 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77672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368825" y="457009"/>
            <a:ext cx="282432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M</a:t>
            </a:r>
            <a:r>
              <a:rPr lang="en-IN" sz="3600" dirty="0" err="1">
                <a:solidFill>
                  <a:srgbClr val="FF0000"/>
                </a:solidFill>
              </a:rPr>
              <a:t>ethodology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848741" y="1505670"/>
            <a:ext cx="6375943" cy="421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/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Dataset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&amp; EMI Recommendation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10585" y="572709"/>
            <a:ext cx="4200295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E</a:t>
            </a:r>
            <a:r>
              <a:rPr lang="en-IN" sz="3600" dirty="0" err="1">
                <a:solidFill>
                  <a:srgbClr val="FF0000"/>
                </a:solidFill>
              </a:rPr>
              <a:t>xpected</a:t>
            </a:r>
            <a:r>
              <a:rPr lang="en-IN" sz="3600" dirty="0">
                <a:solidFill>
                  <a:srgbClr val="FF0000"/>
                </a:solidFill>
              </a:rPr>
              <a:t> Outcome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3EDBA-6E2C-89E2-F0F3-2AC9C65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558" y="1850242"/>
            <a:ext cx="7070351" cy="3366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loan default risk prediction.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loan approval process.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loan eligibility decisions.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loan amount recommendations.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EMI recommendations.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financial risk for banks.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web application.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and transparent decision-making.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5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A4AB26-CA76-7034-0333-773A3C9A3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6A57D-E156-F868-D66D-A3C4ABE39770}"/>
              </a:ext>
            </a:extLst>
          </p:cNvPr>
          <p:cNvSpPr txBox="1"/>
          <p:nvPr/>
        </p:nvSpPr>
        <p:spPr>
          <a:xfrm>
            <a:off x="3200891" y="324605"/>
            <a:ext cx="461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83CF2F7-B6FE-5442-0149-CDBDF997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41" y="1438786"/>
            <a:ext cx="6672417" cy="444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0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EC8FCC-0A14-DDA2-86C6-405CD89180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0DF64-8C43-FF6E-A317-90598382F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9" y="1046520"/>
            <a:ext cx="7708491" cy="4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72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3A886-94FD-7EE1-0618-58650D116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BA1C5C-6D15-FF6F-D7C6-F57F1A01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43" y="1080319"/>
            <a:ext cx="7539157" cy="424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36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337A6-A0DE-F9E3-1199-4A79A0E2B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D8EDD8-5C28-447B-A670-F6E8D610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43" y="905796"/>
            <a:ext cx="7675957" cy="475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36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77679-608A-3065-FE94-768B9D6F1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884B5-405E-4B8C-A9D7-939CAA8CE049}"/>
              </a:ext>
            </a:extLst>
          </p:cNvPr>
          <p:cNvSpPr txBox="1"/>
          <p:nvPr/>
        </p:nvSpPr>
        <p:spPr>
          <a:xfrm>
            <a:off x="2640452" y="442451"/>
            <a:ext cx="4680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D1762-0E83-F556-7C89-C4DE7F82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54" y="1435509"/>
            <a:ext cx="7894814" cy="41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93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426253" y="2579887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743</Words>
  <Application>Microsoft Office PowerPoint</Application>
  <PresentationFormat>On-screen Show (4:3)</PresentationFormat>
  <Paragraphs>136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 Machine Learning-Based Credit Risk Prediction with Safe Loan Amount and EMI Recommendation</vt:lpstr>
      <vt:lpstr>Problem Statement </vt:lpstr>
      <vt:lpstr>Objectives</vt:lpstr>
      <vt:lpstr>Literature Survey</vt:lpstr>
      <vt:lpstr>Base Paper Selection</vt:lpstr>
      <vt:lpstr>Research Gap</vt:lpstr>
      <vt:lpstr>Novelty</vt:lpstr>
      <vt:lpstr>PowerPoint Presentation</vt:lpstr>
      <vt:lpstr>PowerPoint Presentation</vt:lpstr>
      <vt:lpstr>PowerPoint Presentation</vt:lpstr>
      <vt:lpstr>Methodology</vt:lpstr>
      <vt:lpstr>Expected Outcome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DIVYA PRASANTH</cp:lastModifiedBy>
  <cp:revision>54</cp:revision>
  <dcterms:created xsi:type="dcterms:W3CDTF">2025-02-28T03:17:42Z</dcterms:created>
  <dcterms:modified xsi:type="dcterms:W3CDTF">2026-07-20T06:16:16Z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